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6" y="8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6/17/2026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1B3A6B">
              <a:alpha val="30000"/>
            </a:srgbClr>
          </a:solidFill>
          <a:ln w="12700">
            <a:solidFill>
              <a:srgbClr val="1B3A6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858000" y="2926080"/>
            <a:ext cx="3200400" cy="3200400"/>
          </a:xfrm>
          <a:prstGeom prst="ellipse">
            <a:avLst/>
          </a:prstGeom>
          <a:solidFill>
            <a:srgbClr val="2E5FA3">
              <a:alpha val="25000"/>
            </a:srgbClr>
          </a:solidFill>
          <a:ln w="12700">
            <a:solidFill>
              <a:srgbClr val="2E5FA3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7772400" y="-731520"/>
            <a:ext cx="1828800" cy="1828800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286000" y="960120"/>
            <a:ext cx="457200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457200" y="274320"/>
            <a:ext cx="8229600" cy="384048"/>
          </a:xfrm>
          <a:prstGeom prst="roundRect">
            <a:avLst>
              <a:gd name="adj" fmla="val 11905"/>
            </a:avLst>
          </a:prstGeom>
          <a:solidFill>
            <a:srgbClr val="1B3A6B">
              <a:alpha val="70000"/>
            </a:srgbClr>
          </a:solidFill>
          <a:ln w="12700">
            <a:solidFill>
              <a:srgbClr val="C9A84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274320"/>
            <a:ext cx="82296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C96A"/>
                </a:solidFill>
              </a:rPr>
              <a:t>AINS HACKATHON 2026  ·  PNUD · GEWEET · ODC · IEEE · APII · AINS 4.0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822960"/>
            <a:ext cx="8595360" cy="2194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800" b="1" dirty="0">
                <a:solidFill>
                  <a:srgbClr val="FFFFFF"/>
                </a:solidFill>
                <a:latin typeface="Sakkal Majalla" panose="02000000000000000000" pitchFamily="34" charset="0"/>
                <a:ea typeface="Sakkal Majalla" panose="02000000000000000000" pitchFamily="34" charset="-122"/>
                <a:cs typeface="Sakkal Majalla" panose="02000000000000000000" pitchFamily="34" charset="-120"/>
              </a:rPr>
              <a:t>بوصلتي</a:t>
            </a:r>
            <a:endParaRPr lang="en-US" sz="10800" dirty="0"/>
          </a:p>
        </p:txBody>
      </p:sp>
      <p:sp>
        <p:nvSpPr>
          <p:cNvPr id="9" name="Text 7"/>
          <p:cNvSpPr/>
          <p:nvPr/>
        </p:nvSpPr>
        <p:spPr>
          <a:xfrm>
            <a:off x="914400" y="3063240"/>
            <a:ext cx="7315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C9A84C"/>
                </a:solidFill>
                <a:latin typeface="Palatino Linotype" panose="02040502050505030304" pitchFamily="34" charset="0"/>
                <a:ea typeface="Palatino Linotype" panose="02040502050505030304" pitchFamily="34" charset="-122"/>
                <a:cs typeface="Palatino Linotype" panose="02040502050505030304" pitchFamily="34" charset="-120"/>
              </a:rPr>
              <a:t>Oriente ton projet. Finance ton avenir.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286000" y="3657600"/>
            <a:ext cx="457200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914400" y="3749040"/>
            <a:ext cx="73152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8C9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 première plateforme IA qui révèle à l'entrepreneur tunisien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E8C9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 vérité sur sa bancabilité — pas celle qu'il imagine.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5760" y="4617720"/>
            <a:ext cx="2697480" cy="347472"/>
          </a:xfrm>
          <a:prstGeom prst="roundRect">
            <a:avLst>
              <a:gd name="adj" fmla="val 18421"/>
            </a:avLst>
          </a:prstGeom>
          <a:solidFill>
            <a:srgbClr val="2E5FA3">
              <a:alpha val="80000"/>
            </a:srgbClr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65760" y="4617720"/>
            <a:ext cx="2697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F1  Diagnostic Adaptatif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46120" y="4617720"/>
            <a:ext cx="2697480" cy="347472"/>
          </a:xfrm>
          <a:prstGeom prst="roundRect">
            <a:avLst>
              <a:gd name="adj" fmla="val 18421"/>
            </a:avLst>
          </a:prstGeom>
          <a:solidFill>
            <a:srgbClr val="2E5FA3">
              <a:alpha val="80000"/>
            </a:srgbClr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246120" y="4617720"/>
            <a:ext cx="2697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F2  Scoring Multi-Dimensionnel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26480" y="4617720"/>
            <a:ext cx="2697480" cy="347472"/>
          </a:xfrm>
          <a:prstGeom prst="roundRect">
            <a:avLst>
              <a:gd name="adj" fmla="val 18421"/>
            </a:avLst>
          </a:prstGeom>
          <a:solidFill>
            <a:srgbClr val="2E5FA3">
              <a:alpha val="80000"/>
            </a:srgbClr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126480" y="4617720"/>
            <a:ext cx="2697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F3  RAG + Roadmap Tunisienne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6400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Palatino Linotype" panose="02040502050505030304" pitchFamily="34" charset="0"/>
                <a:ea typeface="Palatino Linotype" panose="02040502050505030304" pitchFamily="34" charset="-122"/>
                <a:cs typeface="Palatino Linotype" panose="02040502050505030304" pitchFamily="34" charset="-120"/>
              </a:rPr>
              <a:t>Le Problème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0116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C9A84C"/>
                </a:solidFill>
                <a:latin typeface="Sakkal Majalla" panose="02000000000000000000" pitchFamily="34" charset="0"/>
                <a:ea typeface="Sakkal Majalla" panose="02000000000000000000" pitchFamily="34" charset="-122"/>
                <a:cs typeface="Sakkal Majalla" panose="02000000000000000000" pitchFamily="34" charset="-120"/>
              </a:rPr>
              <a:t>بوصلتي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01168" y="841248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E5FA3"/>
            </a:solidFill>
            <a:prstDash val="solid"/>
          </a:ln>
          <a:effectLst>
            <a:outerShdw blurRad="1270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01168" y="841248"/>
            <a:ext cx="2011680" cy="54864"/>
          </a:xfrm>
          <a:prstGeom prst="round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01168" y="914400"/>
            <a:ext cx="20116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3A6B"/>
                </a:solidFill>
                <a:latin typeface="Palatino Linotype" panose="02040502050505030304" pitchFamily="34" charset="0"/>
                <a:ea typeface="Palatino Linotype" panose="02040502050505030304" pitchFamily="34" charset="-122"/>
                <a:cs typeface="Palatino Linotype" panose="02040502050505030304" pitchFamily="34" charset="-120"/>
              </a:rPr>
              <a:t>97,8%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01168" y="1691640"/>
            <a:ext cx="20116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</a:rPr>
              <a:t>des entreprises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</a:rPr>
              <a:t>sont des PME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01168" y="2304288"/>
            <a:ext cx="2011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6B7280"/>
                </a:solidFill>
              </a:rPr>
              <a:t>IACE 2025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414016" y="841248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E5FA3"/>
            </a:solidFill>
            <a:prstDash val="solid"/>
          </a:ln>
          <a:effectLst>
            <a:outerShdw blurRad="1270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2414016" y="841248"/>
            <a:ext cx="2011680" cy="54864"/>
          </a:xfrm>
          <a:prstGeom prst="round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2414016" y="914400"/>
            <a:ext cx="20116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3A6B"/>
                </a:solidFill>
                <a:latin typeface="Palatino Linotype" panose="02040502050505030304" pitchFamily="34" charset="0"/>
                <a:ea typeface="Palatino Linotype" panose="02040502050505030304" pitchFamily="34" charset="-122"/>
                <a:cs typeface="Palatino Linotype" panose="02040502050505030304" pitchFamily="34" charset="-120"/>
              </a:rPr>
              <a:t>138,3%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414016" y="1691640"/>
            <a:ext cx="20116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</a:rPr>
              <a:t>ratio liquidité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</a:rPr>
              <a:t>banques privées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414016" y="2304288"/>
            <a:ext cx="2011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6B7280"/>
                </a:solidFill>
              </a:rPr>
              <a:t>BCT 2025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626864" y="841248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E5FA3"/>
            </a:solidFill>
            <a:prstDash val="solid"/>
          </a:ln>
          <a:effectLst>
            <a:outerShdw blurRad="1270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4626864" y="841248"/>
            <a:ext cx="2011680" cy="54864"/>
          </a:xfrm>
          <a:prstGeom prst="round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626864" y="914400"/>
            <a:ext cx="20116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3A6B"/>
                </a:solidFill>
                <a:latin typeface="Palatino Linotype" panose="02040502050505030304" pitchFamily="34" charset="0"/>
                <a:ea typeface="Palatino Linotype" panose="02040502050505030304" pitchFamily="34" charset="-122"/>
                <a:cs typeface="Palatino Linotype" panose="02040502050505030304" pitchFamily="34" charset="-120"/>
              </a:rPr>
              <a:t>167%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626864" y="1691640"/>
            <a:ext cx="20116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</a:rPr>
              <a:t>de garanties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</a:rPr>
              <a:t>exigées pour un prêt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26864" y="2304288"/>
            <a:ext cx="2011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6B7280"/>
                </a:solidFill>
              </a:rPr>
              <a:t>Banque Mondiale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839712" y="841248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E5FA3"/>
            </a:solidFill>
            <a:prstDash val="solid"/>
          </a:ln>
          <a:effectLst>
            <a:outerShdw blurRad="1270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6839712" y="841248"/>
            <a:ext cx="2011680" cy="54864"/>
          </a:xfrm>
          <a:prstGeom prst="round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6839712" y="914400"/>
            <a:ext cx="20116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3A6B"/>
                </a:solidFill>
                <a:latin typeface="Palatino Linotype" panose="02040502050505030304" pitchFamily="34" charset="0"/>
                <a:ea typeface="Palatino Linotype" panose="02040502050505030304" pitchFamily="34" charset="-122"/>
                <a:cs typeface="Palatino Linotype" panose="02040502050505030304" pitchFamily="34" charset="-120"/>
              </a:rPr>
              <a:t>40,5%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839712" y="1691640"/>
            <a:ext cx="20116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</a:rPr>
              <a:t>chômage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</a:rPr>
              <a:t>chez les jeunes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39712" y="2304288"/>
            <a:ext cx="2011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6B7280"/>
                </a:solidFill>
              </a:rPr>
              <a:t>Trésor FR 2024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01168" y="2834640"/>
            <a:ext cx="8741664" cy="2011680"/>
          </a:xfrm>
          <a:prstGeom prst="roundRect">
            <a:avLst>
              <a:gd name="adj" fmla="val 5455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270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201168" y="2834640"/>
            <a:ext cx="64008" cy="20116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411480" y="2880360"/>
            <a:ext cx="8229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84C"/>
                </a:solidFill>
                <a:latin typeface="Palatino Linotype" panose="02040502050505030304" pitchFamily="34" charset="0"/>
                <a:ea typeface="Palatino Linotype" panose="02040502050505030304" pitchFamily="34" charset="-122"/>
                <a:cs typeface="Palatino Linotype" panose="02040502050505030304" pitchFamily="34" charset="-120"/>
              </a:rPr>
              <a:t>⚠️  Le Paradoxe Tunisien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11480" y="3255264"/>
            <a:ext cx="8412480" cy="1508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 entrepreneur tunisien sur deux croit être prêt pour un financement. La réalité est tout autre : son business model n'est pas validé, ses garanties sont insuffisantes, son dossier sera refusé — et il ne saura jamais pourquoi.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Les banques privées débordent de liquidités (138% de ratio réglementaire) — et pourtant le crédit aux PME recule. L'argent existe. La volonté existe. Ce qui manque, c'est le pont entre les deux.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                                                                                    بوصلتي est ce pont.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6400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Palatino Linotype" panose="02040502050505030304" pitchFamily="34" charset="0"/>
                <a:ea typeface="Palatino Linotype" panose="02040502050505030304" pitchFamily="34" charset="-122"/>
                <a:cs typeface="Palatino Linotype" panose="02040502050505030304" pitchFamily="34" charset="-120"/>
              </a:rPr>
              <a:t>La Vraie Cause Racine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0116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C9A84C"/>
                </a:solidFill>
                <a:latin typeface="Sakkal Majalla" panose="02000000000000000000" pitchFamily="34" charset="0"/>
                <a:ea typeface="Sakkal Majalla" panose="02000000000000000000" pitchFamily="34" charset="-122"/>
                <a:cs typeface="Sakkal Majalla" panose="02000000000000000000" pitchFamily="34" charset="-120"/>
              </a:rPr>
              <a:t>بوصلتي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01168" y="822960"/>
            <a:ext cx="3794760" cy="457200"/>
          </a:xfrm>
          <a:prstGeom prst="roundRect">
            <a:avLst>
              <a:gd name="adj" fmla="val 16000"/>
            </a:avLst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01168" y="822960"/>
            <a:ext cx="3794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Ce que l'entrepreneur pense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48072" y="822960"/>
            <a:ext cx="3794760" cy="457200"/>
          </a:xfrm>
          <a:prstGeom prst="roundRect">
            <a:avLst>
              <a:gd name="adj" fmla="val 16000"/>
            </a:avLst>
          </a:prstGeom>
          <a:solidFill>
            <a:srgbClr val="0A1628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148072" y="822960"/>
            <a:ext cx="3794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La réalité diagnostiquée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0" y="914400"/>
            <a:ext cx="914400" cy="914400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114800" y="914400"/>
            <a:ext cx="914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≠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201168" y="1417320"/>
            <a:ext cx="3794760" cy="457200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274320" y="1417320"/>
            <a:ext cx="3657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1A2E"/>
                </a:solidFill>
              </a:rPr>
              <a:t>"Mon projet est solide, je mérite un crédit"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48072" y="1417320"/>
            <a:ext cx="3794760" cy="457200"/>
          </a:xfrm>
          <a:prstGeom prst="roundRect">
            <a:avLst>
              <a:gd name="adj" fmla="val 12000"/>
            </a:avLst>
          </a:prstGeom>
          <a:solidFill>
            <a:srgbClr val="E8F4F0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5230368" y="1417320"/>
            <a:ext cx="3657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</a:rPr>
              <a:t>Structure juridique non enregistrée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01168" y="1965960"/>
            <a:ext cx="3794760" cy="457200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274320" y="1965960"/>
            <a:ext cx="3657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1A2E"/>
                </a:solidFill>
              </a:rPr>
              <a:t>"Je suis au stade Fundraising"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148072" y="1965960"/>
            <a:ext cx="3794760" cy="457200"/>
          </a:xfrm>
          <a:prstGeom prst="roundRect">
            <a:avLst>
              <a:gd name="adj" fmla="val 12000"/>
            </a:avLst>
          </a:prstGeom>
          <a:solidFill>
            <a:srgbClr val="E8F4F0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5230368" y="1965960"/>
            <a:ext cx="3657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</a:rPr>
              <a:t>Stade réel : Structuration (2 stades d'écart)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01168" y="2514600"/>
            <a:ext cx="3794760" cy="457200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274320" y="2514600"/>
            <a:ext cx="3657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1A2E"/>
                </a:solidFill>
              </a:rPr>
              <a:t>"Je vais déposer un dossier BFPME"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148072" y="2514600"/>
            <a:ext cx="3794760" cy="457200"/>
          </a:xfrm>
          <a:prstGeom prst="roundRect">
            <a:avLst>
              <a:gd name="adj" fmla="val 12000"/>
            </a:avLst>
          </a:prstGeom>
          <a:solidFill>
            <a:srgbClr val="E8F4F0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5230368" y="2514600"/>
            <a:ext cx="3657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</a:rPr>
              <a:t>Critères BFPME non satisfaits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01168" y="3063240"/>
            <a:ext cx="3794760" cy="457200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274320" y="3063240"/>
            <a:ext cx="3657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1A2E"/>
                </a:solidFill>
              </a:rPr>
              <a:t>"L'innovation parle d'elle-même"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148072" y="3063240"/>
            <a:ext cx="3794760" cy="457200"/>
          </a:xfrm>
          <a:prstGeom prst="roundRect">
            <a:avLst>
              <a:gd name="adj" fmla="val 12000"/>
            </a:avLst>
          </a:prstGeom>
          <a:solidFill>
            <a:srgbClr val="E8F4F0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5230368" y="3063240"/>
            <a:ext cx="3657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</a:rPr>
              <a:t>Barrière à l'entrée quasi-nulle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01168" y="3611880"/>
            <a:ext cx="3794760" cy="457200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274320" y="3611880"/>
            <a:ext cx="3657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1A2E"/>
                </a:solidFill>
              </a:rPr>
              <a:t>"Mes amis veulent acheter = validation"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148072" y="3611880"/>
            <a:ext cx="3794760" cy="457200"/>
          </a:xfrm>
          <a:prstGeom prst="roundRect">
            <a:avLst>
              <a:gd name="adj" fmla="val 12000"/>
            </a:avLst>
          </a:prstGeom>
          <a:solidFill>
            <a:srgbClr val="E8F4F0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5230368" y="3611880"/>
            <a:ext cx="3657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</a:rPr>
              <a:t>Zéro client payant documenté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01168" y="4663440"/>
            <a:ext cx="8741664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1B3A6B"/>
                </a:solidFill>
                <a:latin typeface="Palatino Linotype" panose="02040502050505030304" pitchFamily="34" charset="0"/>
                <a:ea typeface="Palatino Linotype" panose="02040502050505030304" pitchFamily="34" charset="-122"/>
                <a:cs typeface="Palatino Linotype" panose="02040502050505030304" pitchFamily="34" charset="-120"/>
              </a:rPr>
              <a:t>Il n'existe aucun outil en Tunisie qui comble cet écart. C'est exactement ce que fait بوصلتي.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6400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Palatino Linotype" panose="02040502050505030304" pitchFamily="34" charset="0"/>
                <a:ea typeface="Palatino Linotype" panose="02040502050505030304" pitchFamily="34" charset="-122"/>
                <a:cs typeface="Palatino Linotype" panose="02040502050505030304" pitchFamily="34" charset="-120"/>
              </a:rPr>
              <a:t>Notre Solution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0116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C9A84C"/>
                </a:solidFill>
                <a:latin typeface="Sakkal Majalla" panose="02000000000000000000" pitchFamily="34" charset="0"/>
                <a:ea typeface="Sakkal Majalla" panose="02000000000000000000" pitchFamily="34" charset="-122"/>
                <a:cs typeface="Sakkal Majalla" panose="02000000000000000000" pitchFamily="34" charset="-120"/>
              </a:rPr>
              <a:t>بوصلتي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Palatino Linotype" panose="02040502050505030304" pitchFamily="34" charset="0"/>
                <a:ea typeface="Palatino Linotype" panose="02040502050505030304" pitchFamily="34" charset="-122"/>
                <a:cs typeface="Palatino Linotype" panose="02040502050505030304" pitchFamily="34" charset="-120"/>
              </a:rPr>
              <a:t>Intelligent Financing Readiness Engine — 3 modules obligatoires intégrés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01168" y="1261872"/>
            <a:ext cx="8741664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2E5FA3"/>
            </a:solidFill>
            <a:prstDash val="solid"/>
          </a:ln>
          <a:effectLst>
            <a:outerShdw blurRad="1270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201168" y="1261872"/>
            <a:ext cx="822960" cy="960120"/>
          </a:xfrm>
          <a:prstGeom prst="roundRect">
            <a:avLst>
              <a:gd name="adj" fmla="val 11111"/>
            </a:avLst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201168" y="1261872"/>
            <a:ext cx="82296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F1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01168" y="1261872"/>
            <a:ext cx="54864" cy="9601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1143000" y="1353312"/>
            <a:ext cx="76809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5FA3"/>
                </a:solidFill>
                <a:latin typeface="Palatino Linotype" panose="02040502050505030304" pitchFamily="34" charset="0"/>
                <a:ea typeface="Palatino Linotype" panose="02040502050505030304" pitchFamily="34" charset="-122"/>
                <a:cs typeface="Palatino Linotype" panose="02040502050505030304" pitchFamily="34" charset="-120"/>
              </a:rPr>
              <a:t>Adaptive Diagnostic Engine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1682496"/>
            <a:ext cx="76809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Questionnaire à branchement dynamique piloté par LLM. 6 stades de maturité. Détecte l'écart entre stade perçu et réel. Ranking des blockers prioritaires.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01168" y="2340864"/>
            <a:ext cx="8741664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0A1628"/>
            </a:solidFill>
            <a:prstDash val="solid"/>
          </a:ln>
          <a:effectLst>
            <a:outerShdw blurRad="1270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201168" y="2340864"/>
            <a:ext cx="822960" cy="960120"/>
          </a:xfrm>
          <a:prstGeom prst="roundRect">
            <a:avLst>
              <a:gd name="adj" fmla="val 11111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201168" y="2340864"/>
            <a:ext cx="82296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F2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201168" y="2340864"/>
            <a:ext cx="54864" cy="9601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1143000" y="2432304"/>
            <a:ext cx="76809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Palatino Linotype" panose="02040502050505030304" pitchFamily="34" charset="0"/>
                <a:ea typeface="Palatino Linotype" panose="02040502050505030304" pitchFamily="34" charset="-122"/>
                <a:cs typeface="Palatino Linotype" panose="02040502050505030304" pitchFamily="34" charset="-120"/>
              </a:rPr>
              <a:t>Explainable Multi-Dimensional Scoring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2761488"/>
            <a:ext cx="76809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 scores composites AHP pondérés : Market · Commercial · Innovation · Scalability · Green. Financing Readiness Index. Justification langage naturel. Zéro boîte noire.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01168" y="3419856"/>
            <a:ext cx="8741664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1B3A6B"/>
            </a:solidFill>
            <a:prstDash val="solid"/>
          </a:ln>
          <a:effectLst>
            <a:outerShdw blurRad="1270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201168" y="3419856"/>
            <a:ext cx="822960" cy="960120"/>
          </a:xfrm>
          <a:prstGeom prst="roundRect">
            <a:avLst>
              <a:gd name="adj" fmla="val 11111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201168" y="3419856"/>
            <a:ext cx="82296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F3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201168" y="3419856"/>
            <a:ext cx="54864" cy="9601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1143000" y="3511296"/>
            <a:ext cx="76809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Palatino Linotype" panose="02040502050505030304" pitchFamily="34" charset="0"/>
                <a:ea typeface="Palatino Linotype" panose="02040502050505030304" pitchFamily="34" charset="-122"/>
                <a:cs typeface="Palatino Linotype" panose="02040502050505030304" pitchFamily="34" charset="-120"/>
              </a:rPr>
              <a:t>RAG-Grounded Roadmap &amp; Knowledge Base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43000" y="3840480"/>
            <a:ext cx="76809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40+ ressources tunisiennes réelles indexées. Roadmap ordonnée par horizon temporel. Chaque recommandation tracée à une source vérifiée. Zéro hallucination.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01168" y="4526280"/>
            <a:ext cx="8741664" cy="384048"/>
          </a:xfrm>
          <a:prstGeom prst="roundRect">
            <a:avLst>
              <a:gd name="adj" fmla="val 16667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201168" y="4526280"/>
            <a:ext cx="8741664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⚡  Un gap F1 déclenche F3  ·  Un sous-score faible F2 remonte des ressources KB ciblées  ·  Profil projet unifié et partagé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68580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Palatino Linotype" panose="02040502050505030304" pitchFamily="34" charset="0"/>
                <a:ea typeface="Palatino Linotype" panose="02040502050505030304" pitchFamily="34" charset="-122"/>
                <a:cs typeface="Palatino Linotype" panose="02040502050505030304" pitchFamily="34" charset="-120"/>
              </a:rPr>
              <a:t>F1 — Adaptive Diagnostic Engine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0116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C9A84C"/>
                </a:solidFill>
                <a:latin typeface="Sakkal Majalla" panose="02000000000000000000" pitchFamily="34" charset="0"/>
                <a:ea typeface="Sakkal Majalla" panose="02000000000000000000" pitchFamily="34" charset="-122"/>
                <a:cs typeface="Sakkal Majalla" panose="02000000000000000000" pitchFamily="34" charset="-120"/>
              </a:rPr>
              <a:t>بوصلتي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64592" y="804672"/>
            <a:ext cx="1371600" cy="1417320"/>
          </a:xfrm>
          <a:prstGeom prst="roundRect">
            <a:avLst>
              <a:gd name="adj" fmla="val 6667"/>
            </a:avLst>
          </a:prstGeom>
          <a:solidFill>
            <a:srgbClr val="0A1628"/>
          </a:solidFill>
          <a:ln w="12700">
            <a:solidFill>
              <a:srgbClr val="C9A84C"/>
            </a:solidFill>
            <a:prstDash val="solid"/>
          </a:ln>
          <a:effectLst>
            <a:outerShdw blurRad="1270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64592" y="804672"/>
            <a:ext cx="13716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84C"/>
                </a:solidFill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4592" y="1207008"/>
            <a:ext cx="13716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Idéation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64592" y="1609344"/>
            <a:ext cx="1371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E8C96A"/>
                </a:solidFill>
              </a:rPr>
              <a:t>Concours</a:t>
            </a:r>
            <a:endParaRPr lang="en-US" sz="750" dirty="0"/>
          </a:p>
          <a:p>
            <a:pPr marL="0" indent="0" algn="ctr">
              <a:buNone/>
            </a:pPr>
            <a:r>
              <a:rPr lang="en-US" sz="750" i="1" dirty="0">
                <a:solidFill>
                  <a:srgbClr val="E8C96A"/>
                </a:solidFill>
              </a:rPr>
              <a:t>Love money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645920" y="804672"/>
            <a:ext cx="1371600" cy="1417320"/>
          </a:xfrm>
          <a:prstGeom prst="roundRect">
            <a:avLst>
              <a:gd name="adj" fmla="val 6667"/>
            </a:avLst>
          </a:prstGeom>
          <a:solidFill>
            <a:srgbClr val="2E5FA3"/>
          </a:solidFill>
          <a:ln w="12700">
            <a:solidFill>
              <a:srgbClr val="C9A84C"/>
            </a:solidFill>
            <a:prstDash val="solid"/>
          </a:ln>
          <a:effectLst>
            <a:outerShdw blurRad="1270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1645920" y="804672"/>
            <a:ext cx="13716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84C"/>
                </a:solidFill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45920" y="1207008"/>
            <a:ext cx="13716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Market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Validation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45920" y="1609344"/>
            <a:ext cx="1371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E8C96A"/>
                </a:solidFill>
              </a:rPr>
              <a:t>Microfinance</a:t>
            </a:r>
            <a:endParaRPr lang="en-US" sz="750" dirty="0"/>
          </a:p>
          <a:p>
            <a:pPr marL="0" indent="0" algn="ctr">
              <a:buNone/>
            </a:pPr>
            <a:r>
              <a:rPr lang="en-US" sz="750" i="1" dirty="0">
                <a:solidFill>
                  <a:srgbClr val="E8C96A"/>
                </a:solidFill>
              </a:rPr>
              <a:t>BTS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127248" y="804672"/>
            <a:ext cx="1371600" cy="1417320"/>
          </a:xfrm>
          <a:prstGeom prst="roundRect">
            <a:avLst>
              <a:gd name="adj" fmla="val 6667"/>
            </a:avLst>
          </a:prstGeom>
          <a:solidFill>
            <a:srgbClr val="0A1628"/>
          </a:solidFill>
          <a:ln w="12700">
            <a:solidFill>
              <a:srgbClr val="C9A84C"/>
            </a:solidFill>
            <a:prstDash val="solid"/>
          </a:ln>
          <a:effectLst>
            <a:outerShdw blurRad="1270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127248" y="804672"/>
            <a:ext cx="13716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84C"/>
                </a:solidFill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127248" y="1207008"/>
            <a:ext cx="13716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Structu-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127248" y="1609344"/>
            <a:ext cx="1371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E8C96A"/>
                </a:solidFill>
              </a:rPr>
              <a:t>APII / ANPE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608576" y="804672"/>
            <a:ext cx="1371600" cy="1417320"/>
          </a:xfrm>
          <a:prstGeom prst="roundRect">
            <a:avLst>
              <a:gd name="adj" fmla="val 6667"/>
            </a:avLst>
          </a:prstGeom>
          <a:solidFill>
            <a:srgbClr val="2E5FA3"/>
          </a:solidFill>
          <a:ln w="12700">
            <a:solidFill>
              <a:srgbClr val="C9A84C"/>
            </a:solidFill>
            <a:prstDash val="solid"/>
          </a:ln>
          <a:effectLst>
            <a:outerShdw blurRad="1270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608576" y="804672"/>
            <a:ext cx="13716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84C"/>
                </a:solidFill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608576" y="1207008"/>
            <a:ext cx="13716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Fund-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raising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08576" y="1609344"/>
            <a:ext cx="1371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E8C96A"/>
                </a:solidFill>
              </a:rPr>
              <a:t>BFPME</a:t>
            </a:r>
            <a:endParaRPr lang="en-US" sz="750" dirty="0"/>
          </a:p>
          <a:p>
            <a:pPr marL="0" indent="0" algn="ctr">
              <a:buNone/>
            </a:pPr>
            <a:r>
              <a:rPr lang="en-US" sz="750" i="1" dirty="0">
                <a:solidFill>
                  <a:srgbClr val="E8C96A"/>
                </a:solidFill>
              </a:rPr>
              <a:t>Startup Act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089904" y="804672"/>
            <a:ext cx="1371600" cy="1417320"/>
          </a:xfrm>
          <a:prstGeom prst="roundRect">
            <a:avLst>
              <a:gd name="adj" fmla="val 6667"/>
            </a:avLst>
          </a:prstGeom>
          <a:solidFill>
            <a:srgbClr val="0A1628"/>
          </a:solidFill>
          <a:ln w="12700">
            <a:solidFill>
              <a:srgbClr val="C9A84C"/>
            </a:solidFill>
            <a:prstDash val="solid"/>
          </a:ln>
          <a:effectLst>
            <a:outerShdw blurRad="1270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6089904" y="804672"/>
            <a:ext cx="13716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84C"/>
                </a:solidFill>
              </a:rPr>
              <a:t>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089904" y="1207008"/>
            <a:ext cx="13716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Launch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Planning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089904" y="1609344"/>
            <a:ext cx="1371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E8C96A"/>
                </a:solidFill>
              </a:rPr>
              <a:t>Capital risque</a:t>
            </a:r>
            <a:endParaRPr lang="en-US" sz="750" dirty="0"/>
          </a:p>
          <a:p>
            <a:pPr marL="0" indent="0" algn="ctr">
              <a:buNone/>
            </a:pPr>
            <a:r>
              <a:rPr lang="en-US" sz="750" i="1" dirty="0">
                <a:solidFill>
                  <a:srgbClr val="E8C96A"/>
                </a:solidFill>
              </a:rPr>
              <a:t>ANAVA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7571232" y="804672"/>
            <a:ext cx="1371600" cy="1417320"/>
          </a:xfrm>
          <a:prstGeom prst="roundRect">
            <a:avLst>
              <a:gd name="adj" fmla="val 6667"/>
            </a:avLst>
          </a:prstGeom>
          <a:solidFill>
            <a:srgbClr val="2E5FA3"/>
          </a:solidFill>
          <a:ln w="12700">
            <a:solidFill>
              <a:srgbClr val="C9A84C"/>
            </a:solidFill>
            <a:prstDash val="solid"/>
          </a:ln>
          <a:effectLst>
            <a:outerShdw blurRad="1270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7571232" y="804672"/>
            <a:ext cx="13716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84C"/>
                </a:solidFill>
              </a:rPr>
              <a:t>6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571232" y="1207008"/>
            <a:ext cx="13716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Growth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571232" y="1609344"/>
            <a:ext cx="1371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E8C96A"/>
                </a:solidFill>
              </a:rPr>
              <a:t>Lignes bank.</a:t>
            </a:r>
            <a:endParaRPr lang="en-US" sz="750" dirty="0"/>
          </a:p>
          <a:p>
            <a:pPr marL="0" indent="0" algn="ctr">
              <a:buNone/>
            </a:pPr>
            <a:r>
              <a:rPr lang="en-US" sz="750" i="1" dirty="0">
                <a:solidFill>
                  <a:srgbClr val="E8C96A"/>
                </a:solidFill>
              </a:rPr>
              <a:t>AFD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164592" y="2377440"/>
            <a:ext cx="51206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2E5FA3"/>
            </a:solidFill>
            <a:prstDash val="solid"/>
          </a:ln>
          <a:effectLst>
            <a:outerShdw blurRad="1270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164592" y="2377440"/>
            <a:ext cx="64008" cy="1572768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320040" y="2423160"/>
            <a:ext cx="4846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5FA3"/>
                </a:solidFill>
                <a:latin typeface="Palatino Linotype" panose="02040502050505030304" pitchFamily="34" charset="0"/>
                <a:ea typeface="Palatino Linotype" panose="02040502050505030304" pitchFamily="34" charset="-122"/>
                <a:cs typeface="Palatino Linotype" panose="02040502050505030304" pitchFamily="34" charset="-120"/>
              </a:rPr>
              <a:t>Branchement Dynamique — LLM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20040" y="2761488"/>
            <a:ext cx="4846320" cy="11155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Secteur Agri → Questions certif. sanitaires, chaîne froid, saisonnalité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Secteur Tech → Questions MVP, MRR, propriété intellectuelle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"J'ai de la traction" → Probe : lettres d'intention ? clients payants ?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"Prêt BFPME" → Vérif. : RNE ? BP documenté ? apport personnel 20% ?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440680" y="2377440"/>
            <a:ext cx="3538728" cy="1572768"/>
          </a:xfrm>
          <a:prstGeom prst="roundRect">
            <a:avLst>
              <a:gd name="adj" fmla="val 5814"/>
            </a:avLst>
          </a:prstGeom>
          <a:solidFill>
            <a:srgbClr val="0A1628"/>
          </a:solidFill>
          <a:ln w="12700">
            <a:solidFill>
              <a:srgbClr val="C9A84C"/>
            </a:solidFill>
            <a:prstDash val="solid"/>
          </a:ln>
          <a:effectLst>
            <a:outerShdw blurRad="1270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5532120" y="2423160"/>
            <a:ext cx="335584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Palatino Linotype" panose="02040502050505030304" pitchFamily="34" charset="0"/>
                <a:ea typeface="Palatino Linotype" panose="02040502050505030304" pitchFamily="34" charset="-122"/>
                <a:cs typeface="Palatino Linotype" panose="02040502050505030304" pitchFamily="34" charset="-120"/>
              </a:rPr>
              <a:t>⚠️ Gap Detection — 3 cas documentés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532120" y="2761488"/>
            <a:ext cx="3355848" cy="11155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</a:rPr>
              <a:t>Cas 1 : "Prêt BFPME" → Stade Structuration (−2 stades)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</a:rPr>
              <a:t>Cas 2 : "Traction marché" → Stade Idéation (−3 stades)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</a:rPr>
              <a:t>Cas 3 : "Projet innovant" → Innovation Score &lt; 30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64592" y="4041648"/>
            <a:ext cx="8814816" cy="365760"/>
          </a:xfrm>
          <a:prstGeom prst="roundRect">
            <a:avLst>
              <a:gd name="adj" fmla="val 17500"/>
            </a:avLst>
          </a:prstGeom>
          <a:solidFill>
            <a:srgbClr val="C9A84C">
              <a:alpha val="85000"/>
            </a:srgbClr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164592" y="4041648"/>
            <a:ext cx="8814816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Évaluation F1 : Accuracy · F1-score · Matrice de confusion  |  Test set : 10 profils synthétiques labellisés  |  Interface FR / AR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68580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Palatino Linotype" panose="02040502050505030304" pitchFamily="34" charset="0"/>
                <a:ea typeface="Palatino Linotype" panose="02040502050505030304" pitchFamily="34" charset="-122"/>
                <a:cs typeface="Palatino Linotype" panose="02040502050505030304" pitchFamily="34" charset="-120"/>
              </a:rPr>
              <a:t>F2 — Explainable Multi-Dimensional Scoring  (AHP — Saaty)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0116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C9A84C"/>
                </a:solidFill>
                <a:latin typeface="Sakkal Majalla" panose="02000000000000000000" pitchFamily="34" charset="0"/>
                <a:ea typeface="Sakkal Majalla" panose="02000000000000000000" pitchFamily="34" charset="-122"/>
                <a:cs typeface="Sakkal Majalla" panose="02000000000000000000" pitchFamily="34" charset="-120"/>
              </a:rPr>
              <a:t>بوصلتي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64592" y="804672"/>
            <a:ext cx="1627632" cy="1965960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12700">
            <a:solidFill>
              <a:srgbClr val="C1121F"/>
            </a:solidFill>
            <a:prstDash val="solid"/>
          </a:ln>
          <a:effectLst>
            <a:outerShdw blurRad="1270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164592" y="804672"/>
            <a:ext cx="1627632" cy="475488"/>
          </a:xfrm>
          <a:prstGeom prst="roundRect">
            <a:avLst>
              <a:gd name="adj" fmla="val 19231"/>
            </a:avLst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164592" y="804672"/>
            <a:ext cx="1627632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Market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Score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64592" y="1316736"/>
            <a:ext cx="1627632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1121F"/>
                </a:solidFill>
                <a:latin typeface="Palatino Linotype" panose="02040502050505030304" pitchFamily="34" charset="0"/>
                <a:ea typeface="Palatino Linotype" panose="02040502050505030304" pitchFamily="34" charset="-122"/>
                <a:cs typeface="Palatino Linotype" panose="02040502050505030304" pitchFamily="34" charset="-120"/>
              </a:rPr>
              <a:t>29,8%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64592" y="1792224"/>
            <a:ext cx="162763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</a:rPr>
              <a:t>28/100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4592" y="2130552"/>
            <a:ext cx="1627632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280"/>
                </a:solidFill>
              </a:rPr>
              <a:t>TAM · Validation</a:t>
            </a:r>
            <a:endParaRPr lang="en-US" sz="8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6B7280"/>
                </a:solidFill>
              </a:rPr>
              <a:t>Concurrence · Revenus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929384" y="804672"/>
            <a:ext cx="1627632" cy="1965960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12700">
            <a:solidFill>
              <a:srgbClr val="2E5FA3"/>
            </a:solidFill>
            <a:prstDash val="solid"/>
          </a:ln>
          <a:effectLst>
            <a:outerShdw blurRad="1270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1929384" y="804672"/>
            <a:ext cx="1627632" cy="475488"/>
          </a:xfrm>
          <a:prstGeom prst="roundRect">
            <a:avLst>
              <a:gd name="adj" fmla="val 19231"/>
            </a:avLst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1929384" y="804672"/>
            <a:ext cx="1627632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Commercial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Score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929384" y="1316736"/>
            <a:ext cx="1627632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5FA3"/>
                </a:solidFill>
                <a:latin typeface="Palatino Linotype" panose="02040502050505030304" pitchFamily="34" charset="0"/>
                <a:ea typeface="Palatino Linotype" panose="02040502050505030304" pitchFamily="34" charset="-122"/>
                <a:cs typeface="Palatino Linotype" panose="02040502050505030304" pitchFamily="34" charset="-120"/>
              </a:rPr>
              <a:t>15,8%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929384" y="1792224"/>
            <a:ext cx="162763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</a:rPr>
              <a:t>45/100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929384" y="2130552"/>
            <a:ext cx="1627632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280"/>
                </a:solidFill>
              </a:rPr>
              <a:t>Valeur · Produit</a:t>
            </a:r>
            <a:endParaRPr lang="en-US" sz="8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6B7280"/>
                </a:solidFill>
              </a:rPr>
              <a:t>Pricing · Alignement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694176" y="804672"/>
            <a:ext cx="1627632" cy="1965960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12700">
            <a:solidFill>
              <a:srgbClr val="0A1628"/>
            </a:solidFill>
            <a:prstDash val="solid"/>
          </a:ln>
          <a:effectLst>
            <a:outerShdw blurRad="1270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3694176" y="804672"/>
            <a:ext cx="1627632" cy="475488"/>
          </a:xfrm>
          <a:prstGeom prst="roundRect">
            <a:avLst>
              <a:gd name="adj" fmla="val 19231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3694176" y="804672"/>
            <a:ext cx="1627632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Innovation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Score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694176" y="1316736"/>
            <a:ext cx="1627632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1628"/>
                </a:solidFill>
                <a:latin typeface="Palatino Linotype" panose="02040502050505030304" pitchFamily="34" charset="0"/>
                <a:ea typeface="Palatino Linotype" panose="02040502050505030304" pitchFamily="34" charset="-122"/>
                <a:cs typeface="Palatino Linotype" panose="02040502050505030304" pitchFamily="34" charset="-120"/>
              </a:rPr>
              <a:t>29,8%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694176" y="1792224"/>
            <a:ext cx="162763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</a:rPr>
              <a:t>38/100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694176" y="2130552"/>
            <a:ext cx="1627632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280"/>
                </a:solidFill>
              </a:rPr>
              <a:t>Nouveauté · Tech</a:t>
            </a:r>
            <a:endParaRPr lang="en-US" sz="8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6B7280"/>
                </a:solidFill>
              </a:rPr>
              <a:t>Barrière · Rupture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458968" y="804672"/>
            <a:ext cx="1627632" cy="1965960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12700">
            <a:solidFill>
              <a:srgbClr val="1D7A5F"/>
            </a:solidFill>
            <a:prstDash val="solid"/>
          </a:ln>
          <a:effectLst>
            <a:outerShdw blurRad="1270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5458968" y="804672"/>
            <a:ext cx="1627632" cy="475488"/>
          </a:xfrm>
          <a:prstGeom prst="roundRect">
            <a:avLst>
              <a:gd name="adj" fmla="val 19231"/>
            </a:avLst>
          </a:prstGeom>
          <a:solidFill>
            <a:srgbClr val="1D7A5F"/>
          </a:solidFill>
          <a:ln w="12700">
            <a:solidFill>
              <a:srgbClr val="1D7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5458968" y="804672"/>
            <a:ext cx="1627632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Scalability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Score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458968" y="1316736"/>
            <a:ext cx="1627632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D7A5F"/>
                </a:solidFill>
                <a:latin typeface="Palatino Linotype" panose="02040502050505030304" pitchFamily="34" charset="0"/>
                <a:ea typeface="Palatino Linotype" panose="02040502050505030304" pitchFamily="34" charset="-122"/>
                <a:cs typeface="Palatino Linotype" panose="02040502050505030304" pitchFamily="34" charset="-120"/>
              </a:rPr>
              <a:t>15,8%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5458968" y="1792224"/>
            <a:ext cx="162763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</a:rPr>
              <a:t>30/100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58968" y="2130552"/>
            <a:ext cx="1627632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280"/>
                </a:solidFill>
              </a:rPr>
              <a:t>Réplicabilité · Coûts</a:t>
            </a:r>
            <a:endParaRPr lang="en-US" sz="8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6B7280"/>
                </a:solidFill>
              </a:rPr>
              <a:t>Géo · Manuel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223760" y="804672"/>
            <a:ext cx="1627632" cy="1965960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blurRad="1270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7223760" y="804672"/>
            <a:ext cx="1627632" cy="475488"/>
          </a:xfrm>
          <a:prstGeom prst="roundRect">
            <a:avLst>
              <a:gd name="adj" fmla="val 19231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7223760" y="804672"/>
            <a:ext cx="1627632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Green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Score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223760" y="1316736"/>
            <a:ext cx="1627632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0B981"/>
                </a:solidFill>
                <a:latin typeface="Palatino Linotype" panose="02040502050505030304" pitchFamily="34" charset="0"/>
                <a:ea typeface="Palatino Linotype" panose="02040502050505030304" pitchFamily="34" charset="-122"/>
                <a:cs typeface="Palatino Linotype" panose="02040502050505030304" pitchFamily="34" charset="-120"/>
              </a:rPr>
              <a:t>8,9%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7223760" y="1792224"/>
            <a:ext cx="162763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</a:rPr>
              <a:t>20/100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223760" y="2130552"/>
            <a:ext cx="1627632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280"/>
                </a:solidFill>
              </a:rPr>
              <a:t>Impact env · ODD</a:t>
            </a:r>
            <a:endParaRPr lang="en-US" sz="8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6B7280"/>
                </a:solidFill>
              </a:rPr>
              <a:t>Éco-circulaire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64592" y="2880360"/>
            <a:ext cx="8814816" cy="594360"/>
          </a:xfrm>
          <a:prstGeom prst="roundRect">
            <a:avLst>
              <a:gd name="adj" fmla="val 15385"/>
            </a:avLst>
          </a:prstGeom>
          <a:solidFill>
            <a:srgbClr val="0A1628"/>
          </a:solidFill>
          <a:ln w="12700">
            <a:solidFill>
              <a:srgbClr val="C9A84C"/>
            </a:solidFill>
            <a:prstDash val="solid"/>
          </a:ln>
          <a:effectLst>
            <a:outerShdw blurRad="1270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164592" y="2880360"/>
            <a:ext cx="8814816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9A84C"/>
                </a:solidFill>
              </a:rPr>
              <a:t>Financing Readiness Index : </a:t>
            </a:r>
            <a:r>
              <a:rPr lang="en-US" sz="1400" b="1" dirty="0">
                <a:solidFill>
                  <a:srgbClr val="FFFFFF"/>
                </a:solidFill>
              </a:rPr>
              <a:t>34 / 100  →  </a:t>
            </a:r>
            <a:r>
              <a:rPr lang="en-US" sz="1400" b="1" dirty="0">
                <a:solidFill>
                  <a:srgbClr val="FF6B6B"/>
                </a:solidFill>
              </a:rPr>
              <a:t>⛔  Non bancable actuellement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164592" y="3566160"/>
            <a:ext cx="8814816" cy="438912"/>
          </a:xfrm>
          <a:prstGeom prst="roundRect">
            <a:avLst>
              <a:gd name="adj" fmla="val 16667"/>
            </a:avLst>
          </a:prstGeom>
          <a:solidFill>
            <a:srgbClr val="C9A84C">
              <a:alpha val="80000"/>
            </a:srgbClr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256032" y="3566160"/>
            <a:ext cx="863193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1628"/>
                </a:solidFill>
                <a:latin typeface="Palatino Linotype" panose="02040502050505030304" pitchFamily="34" charset="0"/>
                <a:ea typeface="Palatino Linotype" panose="02040502050505030304" pitchFamily="34" charset="-122"/>
                <a:cs typeface="Palatino Linotype" panose="02040502050505030304" pitchFamily="34" charset="-120"/>
              </a:rPr>
              <a:t>⚠️  Scores ≠ Moyennes. Un Market Score &lt; 30 plafonne le FRI à 40/100 — même si tous les autres scores sont excellents.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164592" y="4096512"/>
            <a:ext cx="8814816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1121F"/>
            </a:solidFill>
            <a:prstDash val="solid"/>
          </a:ln>
          <a:effectLst>
            <a:outerShdw blurRad="1270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292608" y="4133088"/>
            <a:ext cx="3657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1121F"/>
                </a:solidFill>
              </a:rPr>
              <a:t>🔴  Anomalies auto-détectées (20+ règles) :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92608" y="4407408"/>
            <a:ext cx="84124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Validation ≥ 70 ET Revenus ≤ 20  →  −8 pts Market  (Stiglitz &amp; Weiss 1981)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Réplicabilité ≥ 70 ET Revenus ≤ 20  →  −10 pts Scalability  ·  Tous scores ≥ 70 ET Stade = Idéation  →  −15 pts global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74980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anose="02040502050505030304" pitchFamily="34" charset="0"/>
                <a:ea typeface="Palatino Linotype" panose="02040502050505030304" pitchFamily="34" charset="-122"/>
                <a:cs typeface="Palatino Linotype" panose="02040502050505030304" pitchFamily="34" charset="-120"/>
              </a:rPr>
              <a:t>F2 — Rigueur Méthodologique : AHP, Anomalies &amp; Ancrage Académique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635240" y="73152"/>
            <a:ext cx="1417320" cy="438912"/>
          </a:xfrm>
          <a:prstGeom prst="roundRect">
            <a:avLst>
              <a:gd name="adj" fmla="val 14583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7635240" y="73152"/>
            <a:ext cx="14173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1628"/>
                </a:solidFill>
              </a:rPr>
              <a:t>Tous CR &lt; 0.10 ✓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91440" y="658368"/>
            <a:ext cx="288036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C1121F"/>
            </a:solidFill>
            <a:prstDash val="solid"/>
          </a:ln>
          <a:effectLst>
            <a:outerShdw blurRad="1270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182880" y="722376"/>
            <a:ext cx="269748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1121F"/>
                </a:solidFill>
                <a:latin typeface="Palatino Linotype" panose="02040502050505030304" pitchFamily="34" charset="0"/>
                <a:ea typeface="Palatino Linotype" panose="02040502050505030304" pitchFamily="34" charset="-122"/>
                <a:cs typeface="Palatino Linotype" panose="02040502050505030304" pitchFamily="34" charset="-120"/>
              </a:rPr>
              <a:t>Market Score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2880" y="987552"/>
            <a:ext cx="1005840" cy="201168"/>
          </a:xfrm>
          <a:prstGeom prst="roundRect">
            <a:avLst>
              <a:gd name="adj" fmla="val 22727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182880" y="987552"/>
            <a:ext cx="10058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</a:rPr>
              <a:t>CR = 0.017 ✓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82880" y="1225296"/>
            <a:ext cx="449580" cy="219456"/>
          </a:xfrm>
          <a:prstGeom prst="rect">
            <a:avLst/>
          </a:prstGeom>
          <a:solidFill>
            <a:srgbClr val="C1121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182880" y="1225296"/>
            <a:ext cx="4495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632460" y="1225296"/>
            <a:ext cx="449580" cy="219456"/>
          </a:xfrm>
          <a:prstGeom prst="rect">
            <a:avLst/>
          </a:prstGeom>
          <a:solidFill>
            <a:srgbClr val="C1121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32460" y="1225296"/>
            <a:ext cx="4495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TAM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082040" y="1225296"/>
            <a:ext cx="449580" cy="219456"/>
          </a:xfrm>
          <a:prstGeom prst="rect">
            <a:avLst/>
          </a:prstGeom>
          <a:solidFill>
            <a:srgbClr val="C1121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1082040" y="1225296"/>
            <a:ext cx="4495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Con.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531620" y="1225296"/>
            <a:ext cx="449580" cy="219456"/>
          </a:xfrm>
          <a:prstGeom prst="rect">
            <a:avLst/>
          </a:prstGeom>
          <a:solidFill>
            <a:srgbClr val="C1121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1531620" y="1225296"/>
            <a:ext cx="4495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Val.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1981200" y="1225296"/>
            <a:ext cx="449580" cy="219456"/>
          </a:xfrm>
          <a:prstGeom prst="rect">
            <a:avLst/>
          </a:prstGeom>
          <a:solidFill>
            <a:srgbClr val="C1121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1981200" y="1225296"/>
            <a:ext cx="4495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Rev.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430780" y="1225296"/>
            <a:ext cx="449580" cy="219456"/>
          </a:xfrm>
          <a:prstGeom prst="rect">
            <a:avLst/>
          </a:prstGeom>
          <a:solidFill>
            <a:srgbClr val="C1121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2430780" y="1225296"/>
            <a:ext cx="4495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9A84C"/>
                </a:solidFill>
              </a:rPr>
              <a:t>w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182880" y="1453896"/>
            <a:ext cx="44958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182880" y="1453896"/>
            <a:ext cx="4495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</a:rPr>
              <a:t>TAM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32460" y="1453896"/>
            <a:ext cx="44958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632460" y="1453896"/>
            <a:ext cx="4495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</a:rPr>
              <a:t>1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1082040" y="1453896"/>
            <a:ext cx="44958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1082040" y="1453896"/>
            <a:ext cx="4495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</a:rPr>
              <a:t>1/3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1531620" y="1453896"/>
            <a:ext cx="44958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1531620" y="1453896"/>
            <a:ext cx="4495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</a:rPr>
              <a:t>1/2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1981200" y="1453896"/>
            <a:ext cx="44958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1981200" y="1453896"/>
            <a:ext cx="4495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</a:rPr>
              <a:t>1/2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430780" y="1453896"/>
            <a:ext cx="449580" cy="219456"/>
          </a:xfrm>
          <a:prstGeom prst="rect">
            <a:avLst/>
          </a:prstGeom>
          <a:solidFill>
            <a:srgbClr val="0A1628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2430780" y="1453896"/>
            <a:ext cx="4495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9A84C"/>
                </a:solidFill>
              </a:rPr>
              <a:t>12</a:t>
            </a:r>
            <a:r>
              <a:rPr lang="de-DE" altLang="en-US" sz="750" b="1" dirty="0">
                <a:solidFill>
                  <a:srgbClr val="C9A84C"/>
                </a:solidFill>
                <a:latin typeface="Calibri" panose="020F0502020204030204" pitchFamily="34" charset="0"/>
              </a:rPr>
              <a:t>,1</a:t>
            </a:r>
            <a:r>
              <a:rPr lang="en-US" sz="750" b="1" dirty="0">
                <a:solidFill>
                  <a:srgbClr val="C9A84C"/>
                </a:solidFill>
              </a:rPr>
              <a:t>%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182880" y="1682496"/>
            <a:ext cx="44958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182880" y="1682496"/>
            <a:ext cx="4495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</a:rPr>
              <a:t>Con.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32460" y="1682496"/>
            <a:ext cx="44958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632460" y="1682496"/>
            <a:ext cx="4495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</a:rPr>
              <a:t>3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1082040" y="1682496"/>
            <a:ext cx="44958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1082040" y="1682496"/>
            <a:ext cx="4495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</a:rPr>
              <a:t>1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1531620" y="1682496"/>
            <a:ext cx="44958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1531620" y="1682496"/>
            <a:ext cx="4495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</a:rPr>
              <a:t>3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1981200" y="1682496"/>
            <a:ext cx="44958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1981200" y="1682496"/>
            <a:ext cx="4495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</a:rPr>
              <a:t>2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2430780" y="1682496"/>
            <a:ext cx="449580" cy="219456"/>
          </a:xfrm>
          <a:prstGeom prst="rect">
            <a:avLst/>
          </a:prstGeom>
          <a:solidFill>
            <a:srgbClr val="0A1628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2430780" y="1682496"/>
            <a:ext cx="4495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9A84C"/>
                </a:solidFill>
              </a:rPr>
              <a:t>45%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182880" y="1911096"/>
            <a:ext cx="44958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182880" y="1911096"/>
            <a:ext cx="4495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</a:rPr>
              <a:t>Val.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632460" y="1911096"/>
            <a:ext cx="44958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632460" y="1911096"/>
            <a:ext cx="4495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</a:rPr>
              <a:t>2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1082040" y="1911096"/>
            <a:ext cx="44958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" name="Text 50"/>
          <p:cNvSpPr/>
          <p:nvPr/>
        </p:nvSpPr>
        <p:spPr>
          <a:xfrm>
            <a:off x="1082040" y="1911096"/>
            <a:ext cx="4495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</a:rPr>
              <a:t>1/3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1531620" y="1911096"/>
            <a:ext cx="44958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4" name="Text 52"/>
          <p:cNvSpPr/>
          <p:nvPr/>
        </p:nvSpPr>
        <p:spPr>
          <a:xfrm>
            <a:off x="1531620" y="1911096"/>
            <a:ext cx="4495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</a:rPr>
              <a:t>1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1981200" y="1911096"/>
            <a:ext cx="44958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6" name="Text 54"/>
          <p:cNvSpPr/>
          <p:nvPr/>
        </p:nvSpPr>
        <p:spPr>
          <a:xfrm>
            <a:off x="1981200" y="1911096"/>
            <a:ext cx="4495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</a:rPr>
              <a:t>2/3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2430780" y="1911096"/>
            <a:ext cx="449580" cy="219456"/>
          </a:xfrm>
          <a:prstGeom prst="rect">
            <a:avLst/>
          </a:prstGeom>
          <a:solidFill>
            <a:srgbClr val="0A1628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8" name="Text 56"/>
          <p:cNvSpPr/>
          <p:nvPr/>
        </p:nvSpPr>
        <p:spPr>
          <a:xfrm>
            <a:off x="2430780" y="1911096"/>
            <a:ext cx="4495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9A84C"/>
                </a:solidFill>
              </a:rPr>
              <a:t>18%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182880" y="2139696"/>
            <a:ext cx="44958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0" name="Text 58"/>
          <p:cNvSpPr/>
          <p:nvPr/>
        </p:nvSpPr>
        <p:spPr>
          <a:xfrm>
            <a:off x="182880" y="2139696"/>
            <a:ext cx="4495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</a:rPr>
              <a:t>Rev.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632460" y="2139696"/>
            <a:ext cx="44958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2" name="Text 60"/>
          <p:cNvSpPr/>
          <p:nvPr/>
        </p:nvSpPr>
        <p:spPr>
          <a:xfrm>
            <a:off x="632460" y="2139696"/>
            <a:ext cx="4495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</a:rPr>
              <a:t>2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1082040" y="2139696"/>
            <a:ext cx="44958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4" name="Text 62"/>
          <p:cNvSpPr/>
          <p:nvPr/>
        </p:nvSpPr>
        <p:spPr>
          <a:xfrm>
            <a:off x="1082040" y="2139696"/>
            <a:ext cx="4495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</a:rPr>
              <a:t>1/2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1531620" y="2139696"/>
            <a:ext cx="44958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6" name="Text 64"/>
          <p:cNvSpPr/>
          <p:nvPr/>
        </p:nvSpPr>
        <p:spPr>
          <a:xfrm>
            <a:off x="1531620" y="2139696"/>
            <a:ext cx="4495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</a:rPr>
              <a:t>3/2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1981200" y="2139696"/>
            <a:ext cx="44958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8" name="Text 66"/>
          <p:cNvSpPr/>
          <p:nvPr/>
        </p:nvSpPr>
        <p:spPr>
          <a:xfrm>
            <a:off x="1981200" y="2139696"/>
            <a:ext cx="4495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</a:rPr>
              <a:t>1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2430780" y="2139696"/>
            <a:ext cx="449580" cy="219456"/>
          </a:xfrm>
          <a:prstGeom prst="rect">
            <a:avLst/>
          </a:prstGeom>
          <a:solidFill>
            <a:srgbClr val="0A1628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0" name="Text 68"/>
          <p:cNvSpPr/>
          <p:nvPr/>
        </p:nvSpPr>
        <p:spPr>
          <a:xfrm>
            <a:off x="2430780" y="2139696"/>
            <a:ext cx="4495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9A84C"/>
                </a:solidFill>
              </a:rPr>
              <a:t>24%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182880" y="2578608"/>
            <a:ext cx="269748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</a:rPr>
              <a:t>💡 Concurrence (45%) &gt; TAM (12%) — Stiglitz &amp; Weiss : traction réelle &gt; taille marché.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182880" y="2880360"/>
            <a:ext cx="2697480" cy="1737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6B7280"/>
                </a:solidFill>
              </a:rPr>
              <a:t>λmax = 4.046 · CI = 0.015 · RI = 0.9</a:t>
            </a:r>
            <a:endParaRPr lang="en-US" sz="650" dirty="0"/>
          </a:p>
        </p:txBody>
      </p:sp>
      <p:sp>
        <p:nvSpPr>
          <p:cNvPr id="73" name="Shape 71"/>
          <p:cNvSpPr/>
          <p:nvPr/>
        </p:nvSpPr>
        <p:spPr>
          <a:xfrm>
            <a:off x="3136392" y="658368"/>
            <a:ext cx="288036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2E5FA3"/>
            </a:solidFill>
            <a:prstDash val="solid"/>
          </a:ln>
          <a:effectLst>
            <a:outerShdw blurRad="1270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4" name="Text 72"/>
          <p:cNvSpPr/>
          <p:nvPr/>
        </p:nvSpPr>
        <p:spPr>
          <a:xfrm>
            <a:off x="3227832" y="722376"/>
            <a:ext cx="269748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5FA3"/>
                </a:solidFill>
                <a:latin typeface="Palatino Linotype" panose="02040502050505030304" pitchFamily="34" charset="0"/>
                <a:ea typeface="Palatino Linotype" panose="02040502050505030304" pitchFamily="34" charset="-122"/>
                <a:cs typeface="Palatino Linotype" panose="02040502050505030304" pitchFamily="34" charset="-120"/>
              </a:rPr>
              <a:t>Innovation Score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3227832" y="987552"/>
            <a:ext cx="1005840" cy="201168"/>
          </a:xfrm>
          <a:prstGeom prst="roundRect">
            <a:avLst>
              <a:gd name="adj" fmla="val 22727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6" name="Text 74"/>
          <p:cNvSpPr/>
          <p:nvPr/>
        </p:nvSpPr>
        <p:spPr>
          <a:xfrm>
            <a:off x="3227832" y="987552"/>
            <a:ext cx="10058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</a:rPr>
              <a:t>CR = 0.00</a:t>
            </a:r>
            <a:r>
              <a:rPr lang="de-DE" altLang="en-US" sz="800" b="1" dirty="0">
                <a:solidFill>
                  <a:srgbClr val="0A1628"/>
                </a:solidFill>
                <a:latin typeface="Calibri" panose="020F0502020204030204" pitchFamily="34" charset="0"/>
              </a:rPr>
              <a:t>37</a:t>
            </a:r>
            <a:r>
              <a:rPr lang="en-US" sz="800" b="1" dirty="0">
                <a:solidFill>
                  <a:srgbClr val="0A1628"/>
                </a:solidFill>
              </a:rPr>
              <a:t>✓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3227832" y="1225296"/>
            <a:ext cx="449580" cy="219456"/>
          </a:xfrm>
          <a:prstGeom prst="rect">
            <a:avLst/>
          </a:prstGeom>
          <a:solidFill>
            <a:srgbClr val="2E5FA3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8" name="Text 76"/>
          <p:cNvSpPr/>
          <p:nvPr/>
        </p:nvSpPr>
        <p:spPr>
          <a:xfrm>
            <a:off x="3227832" y="1225296"/>
            <a:ext cx="4495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3677412" y="1225296"/>
            <a:ext cx="449580" cy="219456"/>
          </a:xfrm>
          <a:prstGeom prst="rect">
            <a:avLst/>
          </a:prstGeom>
          <a:solidFill>
            <a:srgbClr val="2E5FA3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0" name="Text 78"/>
          <p:cNvSpPr/>
          <p:nvPr/>
        </p:nvSpPr>
        <p:spPr>
          <a:xfrm>
            <a:off x="3677412" y="1225296"/>
            <a:ext cx="4495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Nov.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4126992" y="1225296"/>
            <a:ext cx="449580" cy="219456"/>
          </a:xfrm>
          <a:prstGeom prst="rect">
            <a:avLst/>
          </a:prstGeom>
          <a:solidFill>
            <a:srgbClr val="2E5FA3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2" name="Text 80"/>
          <p:cNvSpPr/>
          <p:nvPr/>
        </p:nvSpPr>
        <p:spPr>
          <a:xfrm>
            <a:off x="4126992" y="1225296"/>
            <a:ext cx="4495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Tech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4576572" y="1225296"/>
            <a:ext cx="449580" cy="219456"/>
          </a:xfrm>
          <a:prstGeom prst="rect">
            <a:avLst/>
          </a:prstGeom>
          <a:solidFill>
            <a:srgbClr val="2E5FA3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4" name="Text 82"/>
          <p:cNvSpPr/>
          <p:nvPr/>
        </p:nvSpPr>
        <p:spPr>
          <a:xfrm>
            <a:off x="4576572" y="1225296"/>
            <a:ext cx="4495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Bar.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5026152" y="1225296"/>
            <a:ext cx="449580" cy="219456"/>
          </a:xfrm>
          <a:prstGeom prst="rect">
            <a:avLst/>
          </a:prstGeom>
          <a:solidFill>
            <a:srgbClr val="2E5FA3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6" name="Text 84"/>
          <p:cNvSpPr/>
          <p:nvPr/>
        </p:nvSpPr>
        <p:spPr>
          <a:xfrm>
            <a:off x="5026152" y="1225296"/>
            <a:ext cx="4495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Rup.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5475732" y="1225296"/>
            <a:ext cx="449580" cy="219456"/>
          </a:xfrm>
          <a:prstGeom prst="rect">
            <a:avLst/>
          </a:prstGeom>
          <a:solidFill>
            <a:srgbClr val="2E5FA3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8" name="Text 86"/>
          <p:cNvSpPr/>
          <p:nvPr/>
        </p:nvSpPr>
        <p:spPr>
          <a:xfrm>
            <a:off x="5475732" y="1225296"/>
            <a:ext cx="4495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9A84C"/>
                </a:solidFill>
              </a:rPr>
              <a:t>w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3227832" y="1453896"/>
            <a:ext cx="44958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0" name="Text 88"/>
          <p:cNvSpPr/>
          <p:nvPr/>
        </p:nvSpPr>
        <p:spPr>
          <a:xfrm>
            <a:off x="3227832" y="1453896"/>
            <a:ext cx="4495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</a:rPr>
              <a:t>Nov.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3677412" y="1453896"/>
            <a:ext cx="44958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2" name="Text 90"/>
          <p:cNvSpPr/>
          <p:nvPr/>
        </p:nvSpPr>
        <p:spPr>
          <a:xfrm>
            <a:off x="3677412" y="1453896"/>
            <a:ext cx="4495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</a:rPr>
              <a:t>1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4126992" y="1453896"/>
            <a:ext cx="44958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4" name="Text 92"/>
          <p:cNvSpPr/>
          <p:nvPr/>
        </p:nvSpPr>
        <p:spPr>
          <a:xfrm>
            <a:off x="4126992" y="1453896"/>
            <a:ext cx="4495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</a:rPr>
              <a:t>2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4576572" y="1453896"/>
            <a:ext cx="44958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6" name="Text 94"/>
          <p:cNvSpPr/>
          <p:nvPr/>
        </p:nvSpPr>
        <p:spPr>
          <a:xfrm>
            <a:off x="4576572" y="1453896"/>
            <a:ext cx="4495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</a:rPr>
              <a:t>3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5026152" y="1453896"/>
            <a:ext cx="44958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8" name="Text 96"/>
          <p:cNvSpPr/>
          <p:nvPr/>
        </p:nvSpPr>
        <p:spPr>
          <a:xfrm>
            <a:off x="5026152" y="1453896"/>
            <a:ext cx="4495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</a:rPr>
              <a:t>2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5475732" y="1453896"/>
            <a:ext cx="449580" cy="219456"/>
          </a:xfrm>
          <a:prstGeom prst="rect">
            <a:avLst/>
          </a:prstGeom>
          <a:solidFill>
            <a:srgbClr val="0A1628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0" name="Text 98"/>
          <p:cNvSpPr/>
          <p:nvPr/>
        </p:nvSpPr>
        <p:spPr>
          <a:xfrm>
            <a:off x="5475732" y="1453896"/>
            <a:ext cx="4495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9A84C"/>
                </a:solidFill>
              </a:rPr>
              <a:t>42%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3227832" y="1682496"/>
            <a:ext cx="44958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2" name="Text 100"/>
          <p:cNvSpPr/>
          <p:nvPr/>
        </p:nvSpPr>
        <p:spPr>
          <a:xfrm>
            <a:off x="3227832" y="1682496"/>
            <a:ext cx="4495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</a:rPr>
              <a:t>Tech</a:t>
            </a:r>
            <a:endParaRPr lang="en-US" sz="750" dirty="0"/>
          </a:p>
        </p:txBody>
      </p:sp>
      <p:sp>
        <p:nvSpPr>
          <p:cNvPr id="103" name="Shape 101"/>
          <p:cNvSpPr/>
          <p:nvPr/>
        </p:nvSpPr>
        <p:spPr>
          <a:xfrm>
            <a:off x="3677412" y="1682496"/>
            <a:ext cx="44958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4" name="Text 102"/>
          <p:cNvSpPr/>
          <p:nvPr/>
        </p:nvSpPr>
        <p:spPr>
          <a:xfrm>
            <a:off x="3677412" y="1682496"/>
            <a:ext cx="4495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</a:rPr>
              <a:t>1/2</a:t>
            </a:r>
            <a:endParaRPr lang="en-US" sz="750" dirty="0"/>
          </a:p>
        </p:txBody>
      </p:sp>
      <p:sp>
        <p:nvSpPr>
          <p:cNvPr id="105" name="Shape 103"/>
          <p:cNvSpPr/>
          <p:nvPr/>
        </p:nvSpPr>
        <p:spPr>
          <a:xfrm>
            <a:off x="4126992" y="1682496"/>
            <a:ext cx="44958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6" name="Text 104"/>
          <p:cNvSpPr/>
          <p:nvPr/>
        </p:nvSpPr>
        <p:spPr>
          <a:xfrm>
            <a:off x="4126992" y="1682496"/>
            <a:ext cx="4495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</a:rPr>
              <a:t>1</a:t>
            </a:r>
            <a:endParaRPr lang="en-US" sz="750" dirty="0"/>
          </a:p>
        </p:txBody>
      </p:sp>
      <p:sp>
        <p:nvSpPr>
          <p:cNvPr id="107" name="Shape 105"/>
          <p:cNvSpPr/>
          <p:nvPr/>
        </p:nvSpPr>
        <p:spPr>
          <a:xfrm>
            <a:off x="4576572" y="1682496"/>
            <a:ext cx="44958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8" name="Text 106"/>
          <p:cNvSpPr/>
          <p:nvPr/>
        </p:nvSpPr>
        <p:spPr>
          <a:xfrm>
            <a:off x="4576572" y="1682496"/>
            <a:ext cx="4495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</a:rPr>
              <a:t>2</a:t>
            </a:r>
            <a:endParaRPr lang="en-US" sz="750" dirty="0"/>
          </a:p>
        </p:txBody>
      </p:sp>
      <p:sp>
        <p:nvSpPr>
          <p:cNvPr id="109" name="Shape 107"/>
          <p:cNvSpPr/>
          <p:nvPr/>
        </p:nvSpPr>
        <p:spPr>
          <a:xfrm>
            <a:off x="5026152" y="1682496"/>
            <a:ext cx="44958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0" name="Text 108"/>
          <p:cNvSpPr/>
          <p:nvPr/>
        </p:nvSpPr>
        <p:spPr>
          <a:xfrm>
            <a:off x="5026152" y="1682496"/>
            <a:ext cx="4495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</a:rPr>
              <a:t>1</a:t>
            </a:r>
            <a:endParaRPr lang="en-US" sz="750" dirty="0"/>
          </a:p>
        </p:txBody>
      </p:sp>
      <p:sp>
        <p:nvSpPr>
          <p:cNvPr id="111" name="Shape 109"/>
          <p:cNvSpPr/>
          <p:nvPr/>
        </p:nvSpPr>
        <p:spPr>
          <a:xfrm>
            <a:off x="5475732" y="1682496"/>
            <a:ext cx="449580" cy="219456"/>
          </a:xfrm>
          <a:prstGeom prst="rect">
            <a:avLst/>
          </a:prstGeom>
          <a:solidFill>
            <a:srgbClr val="0A1628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2" name="Text 110"/>
          <p:cNvSpPr/>
          <p:nvPr/>
        </p:nvSpPr>
        <p:spPr>
          <a:xfrm>
            <a:off x="5475732" y="1682496"/>
            <a:ext cx="4495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9A84C"/>
                </a:solidFill>
              </a:rPr>
              <a:t>23%</a:t>
            </a:r>
            <a:endParaRPr lang="en-US" sz="750" dirty="0"/>
          </a:p>
        </p:txBody>
      </p:sp>
      <p:sp>
        <p:nvSpPr>
          <p:cNvPr id="113" name="Shape 111"/>
          <p:cNvSpPr/>
          <p:nvPr/>
        </p:nvSpPr>
        <p:spPr>
          <a:xfrm>
            <a:off x="3227832" y="1911096"/>
            <a:ext cx="44958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4" name="Text 112"/>
          <p:cNvSpPr/>
          <p:nvPr/>
        </p:nvSpPr>
        <p:spPr>
          <a:xfrm>
            <a:off x="3227832" y="1911096"/>
            <a:ext cx="4495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</a:rPr>
              <a:t>Bar.</a:t>
            </a:r>
            <a:endParaRPr lang="en-US" sz="750" dirty="0"/>
          </a:p>
        </p:txBody>
      </p:sp>
      <p:sp>
        <p:nvSpPr>
          <p:cNvPr id="115" name="Shape 113"/>
          <p:cNvSpPr/>
          <p:nvPr/>
        </p:nvSpPr>
        <p:spPr>
          <a:xfrm>
            <a:off x="3677412" y="1911096"/>
            <a:ext cx="44958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6" name="Text 114"/>
          <p:cNvSpPr/>
          <p:nvPr/>
        </p:nvSpPr>
        <p:spPr>
          <a:xfrm>
            <a:off x="3677412" y="1911096"/>
            <a:ext cx="4495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</a:rPr>
              <a:t>1/3</a:t>
            </a:r>
            <a:endParaRPr lang="en-US" sz="750" dirty="0"/>
          </a:p>
        </p:txBody>
      </p:sp>
      <p:sp>
        <p:nvSpPr>
          <p:cNvPr id="117" name="Shape 115"/>
          <p:cNvSpPr/>
          <p:nvPr/>
        </p:nvSpPr>
        <p:spPr>
          <a:xfrm>
            <a:off x="4126992" y="1911096"/>
            <a:ext cx="44958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8" name="Text 116"/>
          <p:cNvSpPr/>
          <p:nvPr/>
        </p:nvSpPr>
        <p:spPr>
          <a:xfrm>
            <a:off x="4126992" y="1911096"/>
            <a:ext cx="4495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</a:rPr>
              <a:t>1/2</a:t>
            </a:r>
            <a:endParaRPr lang="en-US" sz="750" dirty="0"/>
          </a:p>
        </p:txBody>
      </p:sp>
      <p:sp>
        <p:nvSpPr>
          <p:cNvPr id="119" name="Shape 117"/>
          <p:cNvSpPr/>
          <p:nvPr/>
        </p:nvSpPr>
        <p:spPr>
          <a:xfrm>
            <a:off x="4576572" y="1911096"/>
            <a:ext cx="44958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0" name="Text 118"/>
          <p:cNvSpPr/>
          <p:nvPr/>
        </p:nvSpPr>
        <p:spPr>
          <a:xfrm>
            <a:off x="4576572" y="1911096"/>
            <a:ext cx="4495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</a:rPr>
              <a:t>1</a:t>
            </a:r>
            <a:endParaRPr lang="en-US" sz="750" dirty="0"/>
          </a:p>
        </p:txBody>
      </p:sp>
      <p:sp>
        <p:nvSpPr>
          <p:cNvPr id="121" name="Shape 119"/>
          <p:cNvSpPr/>
          <p:nvPr/>
        </p:nvSpPr>
        <p:spPr>
          <a:xfrm>
            <a:off x="5026152" y="1911096"/>
            <a:ext cx="44958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2" name="Text 120"/>
          <p:cNvSpPr/>
          <p:nvPr/>
        </p:nvSpPr>
        <p:spPr>
          <a:xfrm>
            <a:off x="5026152" y="1911096"/>
            <a:ext cx="4495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</a:rPr>
              <a:t>1/2</a:t>
            </a:r>
            <a:endParaRPr lang="en-US" sz="750" dirty="0"/>
          </a:p>
        </p:txBody>
      </p:sp>
      <p:sp>
        <p:nvSpPr>
          <p:cNvPr id="123" name="Shape 121"/>
          <p:cNvSpPr/>
          <p:nvPr/>
        </p:nvSpPr>
        <p:spPr>
          <a:xfrm>
            <a:off x="5475732" y="1911096"/>
            <a:ext cx="449580" cy="219456"/>
          </a:xfrm>
          <a:prstGeom prst="rect">
            <a:avLst/>
          </a:prstGeom>
          <a:solidFill>
            <a:srgbClr val="0A1628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4" name="Text 122"/>
          <p:cNvSpPr/>
          <p:nvPr/>
        </p:nvSpPr>
        <p:spPr>
          <a:xfrm>
            <a:off x="5475732" y="1911096"/>
            <a:ext cx="4495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9A84C"/>
                </a:solidFill>
              </a:rPr>
              <a:t>12%</a:t>
            </a:r>
            <a:endParaRPr lang="en-US" sz="750" dirty="0"/>
          </a:p>
        </p:txBody>
      </p:sp>
      <p:sp>
        <p:nvSpPr>
          <p:cNvPr id="125" name="Shape 123"/>
          <p:cNvSpPr/>
          <p:nvPr/>
        </p:nvSpPr>
        <p:spPr>
          <a:xfrm>
            <a:off x="3227832" y="2139696"/>
            <a:ext cx="44958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6" name="Text 124"/>
          <p:cNvSpPr/>
          <p:nvPr/>
        </p:nvSpPr>
        <p:spPr>
          <a:xfrm>
            <a:off x="3227832" y="2139696"/>
            <a:ext cx="4495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</a:rPr>
              <a:t>Rup.</a:t>
            </a:r>
            <a:endParaRPr lang="en-US" sz="750" dirty="0"/>
          </a:p>
        </p:txBody>
      </p:sp>
      <p:sp>
        <p:nvSpPr>
          <p:cNvPr id="127" name="Shape 125"/>
          <p:cNvSpPr/>
          <p:nvPr/>
        </p:nvSpPr>
        <p:spPr>
          <a:xfrm>
            <a:off x="3677412" y="2139696"/>
            <a:ext cx="44958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8" name="Text 126"/>
          <p:cNvSpPr/>
          <p:nvPr/>
        </p:nvSpPr>
        <p:spPr>
          <a:xfrm>
            <a:off x="3677412" y="2139696"/>
            <a:ext cx="4495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</a:rPr>
              <a:t>1/2</a:t>
            </a:r>
            <a:endParaRPr lang="en-US" sz="750" dirty="0"/>
          </a:p>
        </p:txBody>
      </p:sp>
      <p:sp>
        <p:nvSpPr>
          <p:cNvPr id="129" name="Shape 127"/>
          <p:cNvSpPr/>
          <p:nvPr/>
        </p:nvSpPr>
        <p:spPr>
          <a:xfrm>
            <a:off x="4126992" y="2139696"/>
            <a:ext cx="44958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0" name="Text 128"/>
          <p:cNvSpPr/>
          <p:nvPr/>
        </p:nvSpPr>
        <p:spPr>
          <a:xfrm>
            <a:off x="4126992" y="2139696"/>
            <a:ext cx="4495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</a:rPr>
              <a:t>1</a:t>
            </a:r>
            <a:endParaRPr lang="en-US" sz="750" dirty="0"/>
          </a:p>
        </p:txBody>
      </p:sp>
      <p:sp>
        <p:nvSpPr>
          <p:cNvPr id="131" name="Shape 129"/>
          <p:cNvSpPr/>
          <p:nvPr/>
        </p:nvSpPr>
        <p:spPr>
          <a:xfrm>
            <a:off x="4576572" y="2139696"/>
            <a:ext cx="44958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2" name="Text 130"/>
          <p:cNvSpPr/>
          <p:nvPr/>
        </p:nvSpPr>
        <p:spPr>
          <a:xfrm>
            <a:off x="4576572" y="2139696"/>
            <a:ext cx="4495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</a:rPr>
              <a:t>2</a:t>
            </a:r>
            <a:endParaRPr lang="en-US" sz="750" dirty="0"/>
          </a:p>
        </p:txBody>
      </p:sp>
      <p:sp>
        <p:nvSpPr>
          <p:cNvPr id="133" name="Shape 131"/>
          <p:cNvSpPr/>
          <p:nvPr/>
        </p:nvSpPr>
        <p:spPr>
          <a:xfrm>
            <a:off x="5026152" y="2139696"/>
            <a:ext cx="44958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4" name="Text 132"/>
          <p:cNvSpPr/>
          <p:nvPr/>
        </p:nvSpPr>
        <p:spPr>
          <a:xfrm>
            <a:off x="5026152" y="2139696"/>
            <a:ext cx="4495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</a:rPr>
              <a:t>1</a:t>
            </a:r>
            <a:endParaRPr lang="en-US" sz="750" dirty="0"/>
          </a:p>
        </p:txBody>
      </p:sp>
      <p:sp>
        <p:nvSpPr>
          <p:cNvPr id="135" name="Shape 133"/>
          <p:cNvSpPr/>
          <p:nvPr/>
        </p:nvSpPr>
        <p:spPr>
          <a:xfrm>
            <a:off x="5475732" y="2139696"/>
            <a:ext cx="449580" cy="219456"/>
          </a:xfrm>
          <a:prstGeom prst="rect">
            <a:avLst/>
          </a:prstGeom>
          <a:solidFill>
            <a:srgbClr val="0A1628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6" name="Text 134"/>
          <p:cNvSpPr/>
          <p:nvPr/>
        </p:nvSpPr>
        <p:spPr>
          <a:xfrm>
            <a:off x="5475732" y="2139696"/>
            <a:ext cx="4495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9A84C"/>
                </a:solidFill>
              </a:rPr>
              <a:t>2</a:t>
            </a:r>
            <a:r>
              <a:rPr lang="de-DE" altLang="en-US" sz="750" b="1" dirty="0">
                <a:solidFill>
                  <a:srgbClr val="C9A84C"/>
                </a:solidFill>
                <a:latin typeface="Calibri" panose="020F0502020204030204" pitchFamily="34" charset="0"/>
              </a:rPr>
              <a:t>2,7</a:t>
            </a:r>
            <a:r>
              <a:rPr lang="en-US" sz="750" b="1" dirty="0">
                <a:solidFill>
                  <a:srgbClr val="C9A84C"/>
                </a:solidFill>
              </a:rPr>
              <a:t>%</a:t>
            </a:r>
            <a:endParaRPr lang="en-US" sz="750" dirty="0"/>
          </a:p>
        </p:txBody>
      </p:sp>
      <p:sp>
        <p:nvSpPr>
          <p:cNvPr id="137" name="Text 135"/>
          <p:cNvSpPr/>
          <p:nvPr/>
        </p:nvSpPr>
        <p:spPr>
          <a:xfrm>
            <a:off x="3227832" y="2578608"/>
            <a:ext cx="269748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</a:rPr>
              <a:t>💡 Nouveauté (42%) — Startup Act Art. 3 §4 : modèle éco. à forte dimension innovante.</a:t>
            </a:r>
            <a:endParaRPr lang="en-US" sz="700" dirty="0"/>
          </a:p>
        </p:txBody>
      </p:sp>
      <p:sp>
        <p:nvSpPr>
          <p:cNvPr id="138" name="Text 136"/>
          <p:cNvSpPr/>
          <p:nvPr/>
        </p:nvSpPr>
        <p:spPr>
          <a:xfrm>
            <a:off x="3227832" y="2880360"/>
            <a:ext cx="2697480" cy="1737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6B7280"/>
                </a:solidFill>
              </a:rPr>
              <a:t>λmax = 4.010 · CI = 0.003 · RI = 0.9</a:t>
            </a:r>
            <a:endParaRPr lang="en-US" sz="650" dirty="0"/>
          </a:p>
        </p:txBody>
      </p:sp>
      <p:sp>
        <p:nvSpPr>
          <p:cNvPr id="139" name="Shape 137"/>
          <p:cNvSpPr/>
          <p:nvPr/>
        </p:nvSpPr>
        <p:spPr>
          <a:xfrm>
            <a:off x="6172200" y="658368"/>
            <a:ext cx="288036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blurRad="1270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0" name="Text 138"/>
          <p:cNvSpPr/>
          <p:nvPr/>
        </p:nvSpPr>
        <p:spPr>
          <a:xfrm>
            <a:off x="6263640" y="722376"/>
            <a:ext cx="269748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Palatino Linotype" panose="02040502050505030304" pitchFamily="34" charset="0"/>
                <a:ea typeface="Palatino Linotype" panose="02040502050505030304" pitchFamily="34" charset="-122"/>
                <a:cs typeface="Palatino Linotype" panose="02040502050505030304" pitchFamily="34" charset="-120"/>
              </a:rPr>
              <a:t>Green Score</a:t>
            </a:r>
            <a:endParaRPr lang="en-US" sz="1100" dirty="0"/>
          </a:p>
        </p:txBody>
      </p:sp>
      <p:sp>
        <p:nvSpPr>
          <p:cNvPr id="141" name="Shape 139"/>
          <p:cNvSpPr/>
          <p:nvPr/>
        </p:nvSpPr>
        <p:spPr>
          <a:xfrm>
            <a:off x="6263640" y="987552"/>
            <a:ext cx="1005840" cy="201168"/>
          </a:xfrm>
          <a:prstGeom prst="roundRect">
            <a:avLst>
              <a:gd name="adj" fmla="val 22727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2" name="Text 140"/>
          <p:cNvSpPr/>
          <p:nvPr/>
        </p:nvSpPr>
        <p:spPr>
          <a:xfrm>
            <a:off x="6263640" y="987552"/>
            <a:ext cx="10058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</a:rPr>
              <a:t>CR = 0.011 ✓</a:t>
            </a:r>
            <a:endParaRPr lang="en-US" sz="800" dirty="0"/>
          </a:p>
        </p:txBody>
      </p:sp>
      <p:sp>
        <p:nvSpPr>
          <p:cNvPr id="143" name="Shape 141"/>
          <p:cNvSpPr/>
          <p:nvPr/>
        </p:nvSpPr>
        <p:spPr>
          <a:xfrm>
            <a:off x="6263640" y="1225296"/>
            <a:ext cx="449580" cy="219456"/>
          </a:xfrm>
          <a:prstGeom prst="rect">
            <a:avLst/>
          </a:prstGeom>
          <a:solidFill>
            <a:srgbClr val="10B981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4" name="Text 142"/>
          <p:cNvSpPr/>
          <p:nvPr/>
        </p:nvSpPr>
        <p:spPr>
          <a:xfrm>
            <a:off x="6263640" y="1225296"/>
            <a:ext cx="4495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145" name="Shape 143"/>
          <p:cNvSpPr/>
          <p:nvPr/>
        </p:nvSpPr>
        <p:spPr>
          <a:xfrm>
            <a:off x="6713220" y="1225296"/>
            <a:ext cx="449580" cy="219456"/>
          </a:xfrm>
          <a:prstGeom prst="rect">
            <a:avLst/>
          </a:prstGeom>
          <a:solidFill>
            <a:srgbClr val="10B981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6" name="Text 144"/>
          <p:cNvSpPr/>
          <p:nvPr/>
        </p:nvSpPr>
        <p:spPr>
          <a:xfrm>
            <a:off x="6713220" y="1225296"/>
            <a:ext cx="4495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Cli.</a:t>
            </a:r>
            <a:endParaRPr lang="en-US" sz="750" dirty="0"/>
          </a:p>
        </p:txBody>
      </p:sp>
      <p:sp>
        <p:nvSpPr>
          <p:cNvPr id="147" name="Shape 145"/>
          <p:cNvSpPr/>
          <p:nvPr/>
        </p:nvSpPr>
        <p:spPr>
          <a:xfrm>
            <a:off x="7162800" y="1225296"/>
            <a:ext cx="449580" cy="219456"/>
          </a:xfrm>
          <a:prstGeom prst="rect">
            <a:avLst/>
          </a:prstGeom>
          <a:solidFill>
            <a:srgbClr val="10B981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8" name="Text 146"/>
          <p:cNvSpPr/>
          <p:nvPr/>
        </p:nvSpPr>
        <p:spPr>
          <a:xfrm>
            <a:off x="7162800" y="1225296"/>
            <a:ext cx="4495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Eau</a:t>
            </a:r>
            <a:endParaRPr lang="en-US" sz="750" dirty="0"/>
          </a:p>
        </p:txBody>
      </p:sp>
      <p:sp>
        <p:nvSpPr>
          <p:cNvPr id="149" name="Shape 147"/>
          <p:cNvSpPr/>
          <p:nvPr/>
        </p:nvSpPr>
        <p:spPr>
          <a:xfrm>
            <a:off x="7612380" y="1225296"/>
            <a:ext cx="449580" cy="219456"/>
          </a:xfrm>
          <a:prstGeom prst="rect">
            <a:avLst/>
          </a:prstGeom>
          <a:solidFill>
            <a:srgbClr val="10B981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0" name="Text 148"/>
          <p:cNvSpPr/>
          <p:nvPr/>
        </p:nvSpPr>
        <p:spPr>
          <a:xfrm>
            <a:off x="7612380" y="1225296"/>
            <a:ext cx="4495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Sol</a:t>
            </a:r>
            <a:endParaRPr lang="en-US" sz="750" dirty="0"/>
          </a:p>
        </p:txBody>
      </p:sp>
      <p:sp>
        <p:nvSpPr>
          <p:cNvPr id="151" name="Shape 149"/>
          <p:cNvSpPr/>
          <p:nvPr/>
        </p:nvSpPr>
        <p:spPr>
          <a:xfrm>
            <a:off x="8061960" y="1225296"/>
            <a:ext cx="449580" cy="219456"/>
          </a:xfrm>
          <a:prstGeom prst="rect">
            <a:avLst/>
          </a:prstGeom>
          <a:solidFill>
            <a:srgbClr val="10B981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2" name="Text 150"/>
          <p:cNvSpPr/>
          <p:nvPr/>
        </p:nvSpPr>
        <p:spPr>
          <a:xfrm>
            <a:off x="8061960" y="1225296"/>
            <a:ext cx="4495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Res.</a:t>
            </a:r>
            <a:endParaRPr lang="en-US" sz="750" dirty="0"/>
          </a:p>
        </p:txBody>
      </p:sp>
      <p:sp>
        <p:nvSpPr>
          <p:cNvPr id="153" name="Shape 151"/>
          <p:cNvSpPr/>
          <p:nvPr/>
        </p:nvSpPr>
        <p:spPr>
          <a:xfrm>
            <a:off x="8511540" y="1225296"/>
            <a:ext cx="449580" cy="219456"/>
          </a:xfrm>
          <a:prstGeom prst="rect">
            <a:avLst/>
          </a:prstGeom>
          <a:solidFill>
            <a:srgbClr val="10B981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4" name="Text 152"/>
          <p:cNvSpPr/>
          <p:nvPr/>
        </p:nvSpPr>
        <p:spPr>
          <a:xfrm>
            <a:off x="8511540" y="1225296"/>
            <a:ext cx="4495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9A84C"/>
                </a:solidFill>
              </a:rPr>
              <a:t>w</a:t>
            </a:r>
            <a:endParaRPr lang="en-US" sz="750" dirty="0"/>
          </a:p>
        </p:txBody>
      </p:sp>
      <p:sp>
        <p:nvSpPr>
          <p:cNvPr id="155" name="Shape 153"/>
          <p:cNvSpPr/>
          <p:nvPr/>
        </p:nvSpPr>
        <p:spPr>
          <a:xfrm>
            <a:off x="6263640" y="1453896"/>
            <a:ext cx="44958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6" name="Text 154"/>
          <p:cNvSpPr/>
          <p:nvPr/>
        </p:nvSpPr>
        <p:spPr>
          <a:xfrm>
            <a:off x="6263640" y="1453896"/>
            <a:ext cx="4495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</a:rPr>
              <a:t>Cli.</a:t>
            </a:r>
            <a:endParaRPr lang="en-US" sz="750" dirty="0"/>
          </a:p>
        </p:txBody>
      </p:sp>
      <p:sp>
        <p:nvSpPr>
          <p:cNvPr id="157" name="Shape 155"/>
          <p:cNvSpPr/>
          <p:nvPr/>
        </p:nvSpPr>
        <p:spPr>
          <a:xfrm>
            <a:off x="6713220" y="1453896"/>
            <a:ext cx="44958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8" name="Text 156"/>
          <p:cNvSpPr/>
          <p:nvPr/>
        </p:nvSpPr>
        <p:spPr>
          <a:xfrm>
            <a:off x="6713220" y="1453896"/>
            <a:ext cx="4495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</a:rPr>
              <a:t>1</a:t>
            </a:r>
            <a:endParaRPr lang="en-US" sz="750" dirty="0"/>
          </a:p>
        </p:txBody>
      </p:sp>
      <p:sp>
        <p:nvSpPr>
          <p:cNvPr id="159" name="Shape 157"/>
          <p:cNvSpPr/>
          <p:nvPr/>
        </p:nvSpPr>
        <p:spPr>
          <a:xfrm>
            <a:off x="7162800" y="1453896"/>
            <a:ext cx="44958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0" name="Text 158"/>
          <p:cNvSpPr/>
          <p:nvPr/>
        </p:nvSpPr>
        <p:spPr>
          <a:xfrm>
            <a:off x="7162800" y="1453896"/>
            <a:ext cx="4495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</a:rPr>
              <a:t>1/2</a:t>
            </a:r>
            <a:endParaRPr lang="en-US" sz="750" dirty="0"/>
          </a:p>
        </p:txBody>
      </p:sp>
      <p:sp>
        <p:nvSpPr>
          <p:cNvPr id="161" name="Shape 159"/>
          <p:cNvSpPr/>
          <p:nvPr/>
        </p:nvSpPr>
        <p:spPr>
          <a:xfrm>
            <a:off x="7612380" y="1453896"/>
            <a:ext cx="44958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2" name="Text 160"/>
          <p:cNvSpPr/>
          <p:nvPr/>
        </p:nvSpPr>
        <p:spPr>
          <a:xfrm>
            <a:off x="7612380" y="1453896"/>
            <a:ext cx="4495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</a:rPr>
              <a:t>3</a:t>
            </a:r>
            <a:endParaRPr lang="en-US" sz="750" dirty="0"/>
          </a:p>
        </p:txBody>
      </p:sp>
      <p:sp>
        <p:nvSpPr>
          <p:cNvPr id="163" name="Shape 161"/>
          <p:cNvSpPr/>
          <p:nvPr/>
        </p:nvSpPr>
        <p:spPr>
          <a:xfrm>
            <a:off x="8061960" y="1453896"/>
            <a:ext cx="44958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4" name="Text 162"/>
          <p:cNvSpPr/>
          <p:nvPr/>
        </p:nvSpPr>
        <p:spPr>
          <a:xfrm>
            <a:off x="8061960" y="1453896"/>
            <a:ext cx="4495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</a:rPr>
              <a:t>2</a:t>
            </a:r>
            <a:endParaRPr lang="en-US" sz="750" dirty="0"/>
          </a:p>
        </p:txBody>
      </p:sp>
      <p:sp>
        <p:nvSpPr>
          <p:cNvPr id="165" name="Shape 163"/>
          <p:cNvSpPr/>
          <p:nvPr/>
        </p:nvSpPr>
        <p:spPr>
          <a:xfrm>
            <a:off x="8511540" y="1453896"/>
            <a:ext cx="449580" cy="219456"/>
          </a:xfrm>
          <a:prstGeom prst="rect">
            <a:avLst/>
          </a:prstGeom>
          <a:solidFill>
            <a:srgbClr val="0A1628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6" name="Text 164"/>
          <p:cNvSpPr/>
          <p:nvPr/>
        </p:nvSpPr>
        <p:spPr>
          <a:xfrm>
            <a:off x="8511540" y="1453896"/>
            <a:ext cx="4495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9A84C"/>
                </a:solidFill>
              </a:rPr>
              <a:t>28%</a:t>
            </a:r>
            <a:endParaRPr lang="en-US" sz="750" dirty="0"/>
          </a:p>
        </p:txBody>
      </p:sp>
      <p:sp>
        <p:nvSpPr>
          <p:cNvPr id="167" name="Shape 165"/>
          <p:cNvSpPr/>
          <p:nvPr/>
        </p:nvSpPr>
        <p:spPr>
          <a:xfrm>
            <a:off x="6263640" y="1682496"/>
            <a:ext cx="44958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8" name="Text 166"/>
          <p:cNvSpPr/>
          <p:nvPr/>
        </p:nvSpPr>
        <p:spPr>
          <a:xfrm>
            <a:off x="6263640" y="1682496"/>
            <a:ext cx="4495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</a:rPr>
              <a:t>Eau</a:t>
            </a:r>
            <a:endParaRPr lang="en-US" sz="750" dirty="0"/>
          </a:p>
        </p:txBody>
      </p:sp>
      <p:sp>
        <p:nvSpPr>
          <p:cNvPr id="169" name="Shape 167"/>
          <p:cNvSpPr/>
          <p:nvPr/>
        </p:nvSpPr>
        <p:spPr>
          <a:xfrm>
            <a:off x="6713220" y="1682496"/>
            <a:ext cx="44958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0" name="Text 168"/>
          <p:cNvSpPr/>
          <p:nvPr/>
        </p:nvSpPr>
        <p:spPr>
          <a:xfrm>
            <a:off x="6713220" y="1682496"/>
            <a:ext cx="4495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</a:rPr>
              <a:t>2</a:t>
            </a:r>
            <a:endParaRPr lang="en-US" sz="750" dirty="0"/>
          </a:p>
        </p:txBody>
      </p:sp>
      <p:sp>
        <p:nvSpPr>
          <p:cNvPr id="171" name="Shape 169"/>
          <p:cNvSpPr/>
          <p:nvPr/>
        </p:nvSpPr>
        <p:spPr>
          <a:xfrm>
            <a:off x="7162800" y="1682496"/>
            <a:ext cx="44958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2" name="Text 170"/>
          <p:cNvSpPr/>
          <p:nvPr/>
        </p:nvSpPr>
        <p:spPr>
          <a:xfrm>
            <a:off x="7162800" y="1682496"/>
            <a:ext cx="4495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</a:rPr>
              <a:t>1</a:t>
            </a:r>
            <a:endParaRPr lang="en-US" sz="750" dirty="0"/>
          </a:p>
        </p:txBody>
      </p:sp>
      <p:sp>
        <p:nvSpPr>
          <p:cNvPr id="173" name="Shape 171"/>
          <p:cNvSpPr/>
          <p:nvPr/>
        </p:nvSpPr>
        <p:spPr>
          <a:xfrm>
            <a:off x="7612380" y="1682496"/>
            <a:ext cx="44958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4" name="Text 172"/>
          <p:cNvSpPr/>
          <p:nvPr/>
        </p:nvSpPr>
        <p:spPr>
          <a:xfrm>
            <a:off x="7612380" y="1682496"/>
            <a:ext cx="4495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</a:rPr>
              <a:t>4</a:t>
            </a:r>
            <a:endParaRPr lang="en-US" sz="750" dirty="0"/>
          </a:p>
        </p:txBody>
      </p:sp>
      <p:sp>
        <p:nvSpPr>
          <p:cNvPr id="175" name="Shape 173"/>
          <p:cNvSpPr/>
          <p:nvPr/>
        </p:nvSpPr>
        <p:spPr>
          <a:xfrm>
            <a:off x="8061960" y="1682496"/>
            <a:ext cx="44958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6" name="Text 174"/>
          <p:cNvSpPr/>
          <p:nvPr/>
        </p:nvSpPr>
        <p:spPr>
          <a:xfrm>
            <a:off x="8061960" y="1682496"/>
            <a:ext cx="4495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</a:rPr>
              <a:t>3</a:t>
            </a:r>
            <a:endParaRPr lang="en-US" sz="750" dirty="0"/>
          </a:p>
        </p:txBody>
      </p:sp>
      <p:sp>
        <p:nvSpPr>
          <p:cNvPr id="177" name="Shape 175"/>
          <p:cNvSpPr/>
          <p:nvPr/>
        </p:nvSpPr>
        <p:spPr>
          <a:xfrm>
            <a:off x="8511540" y="1682496"/>
            <a:ext cx="449580" cy="219456"/>
          </a:xfrm>
          <a:prstGeom prst="rect">
            <a:avLst/>
          </a:prstGeom>
          <a:solidFill>
            <a:srgbClr val="0A1628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8" name="Text 176"/>
          <p:cNvSpPr/>
          <p:nvPr/>
        </p:nvSpPr>
        <p:spPr>
          <a:xfrm>
            <a:off x="8511540" y="1682496"/>
            <a:ext cx="4495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9A84C"/>
                </a:solidFill>
              </a:rPr>
              <a:t>47%</a:t>
            </a:r>
            <a:endParaRPr lang="en-US" sz="750" dirty="0"/>
          </a:p>
        </p:txBody>
      </p:sp>
      <p:sp>
        <p:nvSpPr>
          <p:cNvPr id="179" name="Shape 177"/>
          <p:cNvSpPr/>
          <p:nvPr/>
        </p:nvSpPr>
        <p:spPr>
          <a:xfrm>
            <a:off x="6263640" y="1911096"/>
            <a:ext cx="44958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0" name="Text 178"/>
          <p:cNvSpPr/>
          <p:nvPr/>
        </p:nvSpPr>
        <p:spPr>
          <a:xfrm>
            <a:off x="6263640" y="1911096"/>
            <a:ext cx="4495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</a:rPr>
              <a:t>Sol</a:t>
            </a:r>
            <a:endParaRPr lang="en-US" sz="750" dirty="0"/>
          </a:p>
        </p:txBody>
      </p:sp>
      <p:sp>
        <p:nvSpPr>
          <p:cNvPr id="181" name="Shape 179"/>
          <p:cNvSpPr/>
          <p:nvPr/>
        </p:nvSpPr>
        <p:spPr>
          <a:xfrm>
            <a:off x="6713220" y="1911096"/>
            <a:ext cx="44958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2" name="Text 180"/>
          <p:cNvSpPr/>
          <p:nvPr/>
        </p:nvSpPr>
        <p:spPr>
          <a:xfrm>
            <a:off x="6713220" y="1911096"/>
            <a:ext cx="4495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</a:rPr>
              <a:t>1/3</a:t>
            </a:r>
            <a:endParaRPr lang="en-US" sz="750" dirty="0"/>
          </a:p>
        </p:txBody>
      </p:sp>
      <p:sp>
        <p:nvSpPr>
          <p:cNvPr id="183" name="Shape 181"/>
          <p:cNvSpPr/>
          <p:nvPr/>
        </p:nvSpPr>
        <p:spPr>
          <a:xfrm>
            <a:off x="7162800" y="1911096"/>
            <a:ext cx="44958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4" name="Text 182"/>
          <p:cNvSpPr/>
          <p:nvPr/>
        </p:nvSpPr>
        <p:spPr>
          <a:xfrm>
            <a:off x="7162800" y="1911096"/>
            <a:ext cx="4495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</a:rPr>
              <a:t>1/4</a:t>
            </a:r>
            <a:endParaRPr lang="en-US" sz="750" dirty="0"/>
          </a:p>
        </p:txBody>
      </p:sp>
      <p:sp>
        <p:nvSpPr>
          <p:cNvPr id="185" name="Shape 183"/>
          <p:cNvSpPr/>
          <p:nvPr/>
        </p:nvSpPr>
        <p:spPr>
          <a:xfrm>
            <a:off x="7612380" y="1911096"/>
            <a:ext cx="44958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6" name="Text 184"/>
          <p:cNvSpPr/>
          <p:nvPr/>
        </p:nvSpPr>
        <p:spPr>
          <a:xfrm>
            <a:off x="7612380" y="1911096"/>
            <a:ext cx="4495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</a:rPr>
              <a:t>1</a:t>
            </a:r>
            <a:endParaRPr lang="en-US" sz="750" dirty="0"/>
          </a:p>
        </p:txBody>
      </p:sp>
      <p:sp>
        <p:nvSpPr>
          <p:cNvPr id="187" name="Shape 185"/>
          <p:cNvSpPr/>
          <p:nvPr/>
        </p:nvSpPr>
        <p:spPr>
          <a:xfrm>
            <a:off x="8061960" y="1911096"/>
            <a:ext cx="44958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8" name="Text 186"/>
          <p:cNvSpPr/>
          <p:nvPr/>
        </p:nvSpPr>
        <p:spPr>
          <a:xfrm>
            <a:off x="8061960" y="1911096"/>
            <a:ext cx="4495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</a:rPr>
              <a:t>1/2</a:t>
            </a:r>
            <a:endParaRPr lang="en-US" sz="750" dirty="0"/>
          </a:p>
        </p:txBody>
      </p:sp>
      <p:sp>
        <p:nvSpPr>
          <p:cNvPr id="189" name="Shape 187"/>
          <p:cNvSpPr/>
          <p:nvPr/>
        </p:nvSpPr>
        <p:spPr>
          <a:xfrm>
            <a:off x="8511540" y="1911096"/>
            <a:ext cx="449580" cy="219456"/>
          </a:xfrm>
          <a:prstGeom prst="rect">
            <a:avLst/>
          </a:prstGeom>
          <a:solidFill>
            <a:srgbClr val="0A1628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0" name="Text 188"/>
          <p:cNvSpPr/>
          <p:nvPr/>
        </p:nvSpPr>
        <p:spPr>
          <a:xfrm>
            <a:off x="8511540" y="1911096"/>
            <a:ext cx="4495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9A84C"/>
                </a:solidFill>
              </a:rPr>
              <a:t>10%</a:t>
            </a:r>
            <a:endParaRPr lang="en-US" sz="750" dirty="0"/>
          </a:p>
        </p:txBody>
      </p:sp>
      <p:sp>
        <p:nvSpPr>
          <p:cNvPr id="191" name="Shape 189"/>
          <p:cNvSpPr/>
          <p:nvPr/>
        </p:nvSpPr>
        <p:spPr>
          <a:xfrm>
            <a:off x="6263640" y="2139696"/>
            <a:ext cx="44958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2" name="Text 190"/>
          <p:cNvSpPr/>
          <p:nvPr/>
        </p:nvSpPr>
        <p:spPr>
          <a:xfrm>
            <a:off x="6263640" y="2139696"/>
            <a:ext cx="4495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</a:rPr>
              <a:t>Res.</a:t>
            </a:r>
            <a:endParaRPr lang="en-US" sz="750" dirty="0"/>
          </a:p>
        </p:txBody>
      </p:sp>
      <p:sp>
        <p:nvSpPr>
          <p:cNvPr id="193" name="Shape 191"/>
          <p:cNvSpPr/>
          <p:nvPr/>
        </p:nvSpPr>
        <p:spPr>
          <a:xfrm>
            <a:off x="6713220" y="2139696"/>
            <a:ext cx="44958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4" name="Text 192"/>
          <p:cNvSpPr/>
          <p:nvPr/>
        </p:nvSpPr>
        <p:spPr>
          <a:xfrm>
            <a:off x="6713220" y="2139696"/>
            <a:ext cx="4495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</a:rPr>
              <a:t>1/2</a:t>
            </a:r>
            <a:endParaRPr lang="en-US" sz="750" dirty="0"/>
          </a:p>
        </p:txBody>
      </p:sp>
      <p:sp>
        <p:nvSpPr>
          <p:cNvPr id="195" name="Shape 193"/>
          <p:cNvSpPr/>
          <p:nvPr/>
        </p:nvSpPr>
        <p:spPr>
          <a:xfrm>
            <a:off x="7162800" y="2139696"/>
            <a:ext cx="44958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6" name="Text 194"/>
          <p:cNvSpPr/>
          <p:nvPr/>
        </p:nvSpPr>
        <p:spPr>
          <a:xfrm>
            <a:off x="7162800" y="2139696"/>
            <a:ext cx="4495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</a:rPr>
              <a:t>1/3</a:t>
            </a:r>
            <a:endParaRPr lang="en-US" sz="750" dirty="0"/>
          </a:p>
        </p:txBody>
      </p:sp>
      <p:sp>
        <p:nvSpPr>
          <p:cNvPr id="197" name="Shape 195"/>
          <p:cNvSpPr/>
          <p:nvPr/>
        </p:nvSpPr>
        <p:spPr>
          <a:xfrm>
            <a:off x="7612380" y="2139696"/>
            <a:ext cx="44958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8" name="Text 196"/>
          <p:cNvSpPr/>
          <p:nvPr/>
        </p:nvSpPr>
        <p:spPr>
          <a:xfrm>
            <a:off x="7612380" y="2139696"/>
            <a:ext cx="4495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</a:rPr>
              <a:t>2</a:t>
            </a:r>
            <a:endParaRPr lang="en-US" sz="750" dirty="0"/>
          </a:p>
        </p:txBody>
      </p:sp>
      <p:sp>
        <p:nvSpPr>
          <p:cNvPr id="199" name="Shape 197"/>
          <p:cNvSpPr/>
          <p:nvPr/>
        </p:nvSpPr>
        <p:spPr>
          <a:xfrm>
            <a:off x="8061960" y="2139696"/>
            <a:ext cx="44958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0" name="Text 198"/>
          <p:cNvSpPr/>
          <p:nvPr/>
        </p:nvSpPr>
        <p:spPr>
          <a:xfrm>
            <a:off x="8061960" y="2139696"/>
            <a:ext cx="4495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</a:rPr>
              <a:t>1</a:t>
            </a:r>
            <a:endParaRPr lang="en-US" sz="750" dirty="0"/>
          </a:p>
        </p:txBody>
      </p:sp>
      <p:sp>
        <p:nvSpPr>
          <p:cNvPr id="201" name="Shape 199"/>
          <p:cNvSpPr/>
          <p:nvPr/>
        </p:nvSpPr>
        <p:spPr>
          <a:xfrm>
            <a:off x="8511540" y="2139696"/>
            <a:ext cx="449580" cy="219456"/>
          </a:xfrm>
          <a:prstGeom prst="rect">
            <a:avLst/>
          </a:prstGeom>
          <a:solidFill>
            <a:srgbClr val="0A1628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2" name="Text 200"/>
          <p:cNvSpPr/>
          <p:nvPr/>
        </p:nvSpPr>
        <p:spPr>
          <a:xfrm>
            <a:off x="8511540" y="2139696"/>
            <a:ext cx="4495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9A84C"/>
                </a:solidFill>
              </a:rPr>
              <a:t>16%</a:t>
            </a:r>
            <a:endParaRPr lang="en-US" sz="750" dirty="0"/>
          </a:p>
        </p:txBody>
      </p:sp>
      <p:sp>
        <p:nvSpPr>
          <p:cNvPr id="203" name="Text 201"/>
          <p:cNvSpPr/>
          <p:nvPr/>
        </p:nvSpPr>
        <p:spPr>
          <a:xfrm>
            <a:off x="6263640" y="2578608"/>
            <a:ext cx="269748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</a:rPr>
              <a:t>💡 Eau (47%) — Tunisie = 3ème stress hydrique MENA (WB 2024). Piliers PNUD.</a:t>
            </a:r>
            <a:endParaRPr lang="en-US" sz="700" dirty="0"/>
          </a:p>
        </p:txBody>
      </p:sp>
      <p:sp>
        <p:nvSpPr>
          <p:cNvPr id="204" name="Text 202"/>
          <p:cNvSpPr/>
          <p:nvPr/>
        </p:nvSpPr>
        <p:spPr>
          <a:xfrm>
            <a:off x="6263640" y="2880360"/>
            <a:ext cx="2697480" cy="1737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6B7280"/>
                </a:solidFill>
              </a:rPr>
              <a:t>λmax = 4.031 · CI = 0.010 · RI = 0.9</a:t>
            </a:r>
            <a:endParaRPr lang="en-US" sz="650" dirty="0"/>
          </a:p>
        </p:txBody>
      </p:sp>
      <p:sp>
        <p:nvSpPr>
          <p:cNvPr id="205" name="Shape 203"/>
          <p:cNvSpPr/>
          <p:nvPr/>
        </p:nvSpPr>
        <p:spPr>
          <a:xfrm>
            <a:off x="91440" y="3200400"/>
            <a:ext cx="2834640" cy="184708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12700">
            <a:solidFill>
              <a:srgbClr val="C1121F"/>
            </a:solidFill>
            <a:prstDash val="solid"/>
          </a:ln>
          <a:effectLst>
            <a:outerShdw blurRad="1270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6" name="Text 204"/>
          <p:cNvSpPr/>
          <p:nvPr/>
        </p:nvSpPr>
        <p:spPr>
          <a:xfrm>
            <a:off x="182880" y="3246120"/>
            <a:ext cx="265176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1121F"/>
                </a:solidFill>
                <a:latin typeface="Palatino Linotype" panose="02040502050505030304" pitchFamily="34" charset="0"/>
                <a:ea typeface="Palatino Linotype" panose="02040502050505030304" pitchFamily="34" charset="-122"/>
                <a:cs typeface="Palatino Linotype" panose="02040502050505030304" pitchFamily="34" charset="-120"/>
              </a:rPr>
              <a:t>Anomalies Détectées</a:t>
            </a:r>
            <a:endParaRPr lang="en-US" sz="1000" dirty="0"/>
          </a:p>
        </p:txBody>
      </p:sp>
      <p:sp>
        <p:nvSpPr>
          <p:cNvPr id="207" name="Text 205"/>
          <p:cNvSpPr/>
          <p:nvPr/>
        </p:nvSpPr>
        <p:spPr>
          <a:xfrm>
            <a:off x="182880" y="3493008"/>
            <a:ext cx="26517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</a:rPr>
              <a:t>Stiglitz &amp; Weiss (1981) — asymétrie d'information</a:t>
            </a:r>
            <a:endParaRPr lang="en-US" sz="700" dirty="0"/>
          </a:p>
        </p:txBody>
      </p:sp>
      <p:sp>
        <p:nvSpPr>
          <p:cNvPr id="208" name="Shape 206"/>
          <p:cNvSpPr/>
          <p:nvPr/>
        </p:nvSpPr>
        <p:spPr>
          <a:xfrm>
            <a:off x="182880" y="3712464"/>
            <a:ext cx="1691640" cy="329184"/>
          </a:xfrm>
          <a:prstGeom prst="roundRect">
            <a:avLst>
              <a:gd name="adj" fmla="val 13889"/>
            </a:avLst>
          </a:prstGeom>
          <a:solidFill>
            <a:srgbClr val="FFF0F0"/>
          </a:solidFill>
          <a:ln w="12700">
            <a:solidFill>
              <a:srgbClr val="C112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9" name="Text 207"/>
          <p:cNvSpPr/>
          <p:nvPr/>
        </p:nvSpPr>
        <p:spPr>
          <a:xfrm>
            <a:off x="201168" y="3712464"/>
            <a:ext cx="1673352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A1A2E"/>
                </a:solidFill>
              </a:rPr>
              <a:t>MS3 (Validation) ≥ 70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1A1A2E"/>
                </a:solidFill>
              </a:rPr>
              <a:t>ET MS4 (Revenus) ≤ 20</a:t>
            </a:r>
            <a:endParaRPr lang="en-US" sz="650" dirty="0"/>
          </a:p>
        </p:txBody>
      </p:sp>
      <p:sp>
        <p:nvSpPr>
          <p:cNvPr id="210" name="Shape 208"/>
          <p:cNvSpPr/>
          <p:nvPr/>
        </p:nvSpPr>
        <p:spPr>
          <a:xfrm>
            <a:off x="1920240" y="3758184"/>
            <a:ext cx="868680" cy="237744"/>
          </a:xfrm>
          <a:prstGeom prst="roundRect">
            <a:avLst>
              <a:gd name="adj" fmla="val 19231"/>
            </a:avLst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1" name="Text 209"/>
          <p:cNvSpPr/>
          <p:nvPr/>
        </p:nvSpPr>
        <p:spPr>
          <a:xfrm>
            <a:off x="1920240" y="3758184"/>
            <a:ext cx="8686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−8 pts Market</a:t>
            </a:r>
            <a:endParaRPr lang="en-US" sz="750" dirty="0"/>
          </a:p>
        </p:txBody>
      </p:sp>
      <p:sp>
        <p:nvSpPr>
          <p:cNvPr id="212" name="Shape 210"/>
          <p:cNvSpPr/>
          <p:nvPr/>
        </p:nvSpPr>
        <p:spPr>
          <a:xfrm>
            <a:off x="182880" y="4096512"/>
            <a:ext cx="1691640" cy="329184"/>
          </a:xfrm>
          <a:prstGeom prst="roundRect">
            <a:avLst>
              <a:gd name="adj" fmla="val 13889"/>
            </a:avLst>
          </a:prstGeom>
          <a:solidFill>
            <a:srgbClr val="FFF0F0"/>
          </a:solidFill>
          <a:ln w="12700">
            <a:solidFill>
              <a:srgbClr val="C112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3" name="Text 211"/>
          <p:cNvSpPr/>
          <p:nvPr/>
        </p:nvSpPr>
        <p:spPr>
          <a:xfrm>
            <a:off x="201168" y="4096512"/>
            <a:ext cx="1673352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A1A2E"/>
                </a:solidFill>
              </a:rPr>
              <a:t>SC1 (Réplicabilité) ≥ 70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1A1A2E"/>
                </a:solidFill>
              </a:rPr>
              <a:t>ET MS4 (Revenus) ≤ 20</a:t>
            </a:r>
            <a:endParaRPr lang="en-US" sz="650" dirty="0"/>
          </a:p>
        </p:txBody>
      </p:sp>
      <p:sp>
        <p:nvSpPr>
          <p:cNvPr id="214" name="Shape 212"/>
          <p:cNvSpPr/>
          <p:nvPr/>
        </p:nvSpPr>
        <p:spPr>
          <a:xfrm>
            <a:off x="1920240" y="4142232"/>
            <a:ext cx="868680" cy="237744"/>
          </a:xfrm>
          <a:prstGeom prst="roundRect">
            <a:avLst>
              <a:gd name="adj" fmla="val 19231"/>
            </a:avLst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5" name="Text 213"/>
          <p:cNvSpPr/>
          <p:nvPr/>
        </p:nvSpPr>
        <p:spPr>
          <a:xfrm>
            <a:off x="1920240" y="4142232"/>
            <a:ext cx="8686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−10 pts Scalab.</a:t>
            </a:r>
            <a:endParaRPr lang="en-US" sz="750" dirty="0"/>
          </a:p>
        </p:txBody>
      </p:sp>
      <p:sp>
        <p:nvSpPr>
          <p:cNvPr id="216" name="Shape 214"/>
          <p:cNvSpPr/>
          <p:nvPr/>
        </p:nvSpPr>
        <p:spPr>
          <a:xfrm>
            <a:off x="182880" y="4480560"/>
            <a:ext cx="1691640" cy="329184"/>
          </a:xfrm>
          <a:prstGeom prst="roundRect">
            <a:avLst>
              <a:gd name="adj" fmla="val 13889"/>
            </a:avLst>
          </a:prstGeom>
          <a:solidFill>
            <a:srgbClr val="FFF0F0"/>
          </a:solidFill>
          <a:ln w="12700">
            <a:solidFill>
              <a:srgbClr val="C112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7" name="Text 215"/>
          <p:cNvSpPr/>
          <p:nvPr/>
        </p:nvSpPr>
        <p:spPr>
          <a:xfrm>
            <a:off x="201168" y="4480560"/>
            <a:ext cx="1673352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A1A2E"/>
                </a:solidFill>
              </a:rPr>
              <a:t>Tous scores ≥ 70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1A1A2E"/>
                </a:solidFill>
              </a:rPr>
              <a:t>ET Stade F1 = Idéation</a:t>
            </a:r>
            <a:endParaRPr lang="en-US" sz="650" dirty="0"/>
          </a:p>
        </p:txBody>
      </p:sp>
      <p:sp>
        <p:nvSpPr>
          <p:cNvPr id="218" name="Shape 216"/>
          <p:cNvSpPr/>
          <p:nvPr/>
        </p:nvSpPr>
        <p:spPr>
          <a:xfrm>
            <a:off x="1920240" y="4526280"/>
            <a:ext cx="868680" cy="237744"/>
          </a:xfrm>
          <a:prstGeom prst="roundRect">
            <a:avLst>
              <a:gd name="adj" fmla="val 19231"/>
            </a:avLst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9" name="Text 217"/>
          <p:cNvSpPr/>
          <p:nvPr/>
        </p:nvSpPr>
        <p:spPr>
          <a:xfrm>
            <a:off x="1920240" y="4526280"/>
            <a:ext cx="8686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−15 pts global</a:t>
            </a:r>
            <a:endParaRPr lang="en-US" sz="750" dirty="0"/>
          </a:p>
        </p:txBody>
      </p:sp>
      <p:sp>
        <p:nvSpPr>
          <p:cNvPr id="220" name="Text 218"/>
          <p:cNvSpPr/>
          <p:nvPr/>
        </p:nvSpPr>
        <p:spPr>
          <a:xfrm>
            <a:off x="182880" y="4919472"/>
            <a:ext cx="265176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</a:rPr>
              <a:t>20+ règles · Pénalités bornées −20 pts max</a:t>
            </a:r>
            <a:endParaRPr lang="en-US" sz="700" dirty="0"/>
          </a:p>
        </p:txBody>
      </p:sp>
      <p:sp>
        <p:nvSpPr>
          <p:cNvPr id="221" name="Shape 219"/>
          <p:cNvSpPr/>
          <p:nvPr/>
        </p:nvSpPr>
        <p:spPr>
          <a:xfrm>
            <a:off x="3063240" y="3200400"/>
            <a:ext cx="2971800" cy="184708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12700">
            <a:solidFill>
              <a:srgbClr val="2E5FA3"/>
            </a:solidFill>
            <a:prstDash val="solid"/>
          </a:ln>
          <a:effectLst>
            <a:outerShdw blurRad="1270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2" name="Text 220"/>
          <p:cNvSpPr/>
          <p:nvPr/>
        </p:nvSpPr>
        <p:spPr>
          <a:xfrm>
            <a:off x="3154680" y="3246120"/>
            <a:ext cx="278892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5FA3"/>
                </a:solidFill>
                <a:latin typeface="Palatino Linotype" panose="02040502050505030304" pitchFamily="34" charset="0"/>
                <a:ea typeface="Palatino Linotype" panose="02040502050505030304" pitchFamily="34" charset="-122"/>
                <a:cs typeface="Palatino Linotype" panose="02040502050505030304" pitchFamily="34" charset="-120"/>
              </a:rPr>
              <a:t>Adaptabilité Sectorielle</a:t>
            </a:r>
            <a:endParaRPr lang="en-US" sz="1000" dirty="0"/>
          </a:p>
        </p:txBody>
      </p:sp>
      <p:sp>
        <p:nvSpPr>
          <p:cNvPr id="223" name="Text 221"/>
          <p:cNvSpPr/>
          <p:nvPr/>
        </p:nvSpPr>
        <p:spPr>
          <a:xfrm>
            <a:off x="3154680" y="3493008"/>
            <a:ext cx="27889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</a:rPr>
              <a:t>Poids ajustés — réalité terrain tunisienne</a:t>
            </a:r>
            <a:endParaRPr lang="en-US" sz="700" dirty="0"/>
          </a:p>
        </p:txBody>
      </p:sp>
      <p:sp>
        <p:nvSpPr>
          <p:cNvPr id="224" name="Shape 222"/>
          <p:cNvSpPr/>
          <p:nvPr/>
        </p:nvSpPr>
        <p:spPr>
          <a:xfrm>
            <a:off x="3154680" y="3712464"/>
            <a:ext cx="2788920" cy="210312"/>
          </a:xfrm>
          <a:prstGeom prst="roundRect">
            <a:avLst>
              <a:gd name="adj" fmla="val 17391"/>
            </a:avLst>
          </a:prstGeom>
          <a:solidFill>
            <a:srgbClr val="EEF2FF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5" name="Text 223"/>
          <p:cNvSpPr/>
          <p:nvPr/>
        </p:nvSpPr>
        <p:spPr>
          <a:xfrm>
            <a:off x="3200400" y="3712464"/>
            <a:ext cx="1234440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0A1628"/>
                </a:solidFill>
              </a:rPr>
              <a:t>Agriculture / Sylviculture / Pêche</a:t>
            </a:r>
            <a:endParaRPr lang="en-US" sz="650" dirty="0"/>
          </a:p>
        </p:txBody>
      </p:sp>
      <p:sp>
        <p:nvSpPr>
          <p:cNvPr id="226" name="Text 224"/>
          <p:cNvSpPr/>
          <p:nvPr/>
        </p:nvSpPr>
        <p:spPr>
          <a:xfrm>
            <a:off x="4462272" y="3712464"/>
            <a:ext cx="914400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2E5FA3"/>
                </a:solidFill>
              </a:rPr>
              <a:t>MS3+10% · GS2+15%</a:t>
            </a:r>
            <a:endParaRPr lang="en-US" sz="600" dirty="0"/>
          </a:p>
        </p:txBody>
      </p:sp>
      <p:sp>
        <p:nvSpPr>
          <p:cNvPr id="227" name="Text 225"/>
          <p:cNvSpPr/>
          <p:nvPr/>
        </p:nvSpPr>
        <p:spPr>
          <a:xfrm>
            <a:off x="5394960" y="3712464"/>
            <a:ext cx="502920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50" i="1" dirty="0">
                <a:solidFill>
                  <a:srgbClr val="6B7280"/>
                </a:solidFill>
              </a:rPr>
              <a:t>83% prélévm. eau TN</a:t>
            </a:r>
            <a:endParaRPr lang="en-US" sz="550" dirty="0"/>
          </a:p>
        </p:txBody>
      </p:sp>
      <p:sp>
        <p:nvSpPr>
          <p:cNvPr id="228" name="Shape 226"/>
          <p:cNvSpPr/>
          <p:nvPr/>
        </p:nvSpPr>
        <p:spPr>
          <a:xfrm>
            <a:off x="3154680" y="3959352"/>
            <a:ext cx="2788920" cy="210312"/>
          </a:xfrm>
          <a:prstGeom prst="roundRect">
            <a:avLst>
              <a:gd name="adj" fmla="val 17391"/>
            </a:avLst>
          </a:prstGeom>
          <a:solidFill>
            <a:srgbClr val="EEF2FF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9" name="Text 227"/>
          <p:cNvSpPr/>
          <p:nvPr/>
        </p:nvSpPr>
        <p:spPr>
          <a:xfrm>
            <a:off x="3200400" y="3959352"/>
            <a:ext cx="1234440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0A1628"/>
                </a:solidFill>
              </a:rPr>
              <a:t>Industrie / Construction</a:t>
            </a:r>
            <a:endParaRPr lang="en-US" sz="650" dirty="0"/>
          </a:p>
        </p:txBody>
      </p:sp>
      <p:sp>
        <p:nvSpPr>
          <p:cNvPr id="230" name="Text 228"/>
          <p:cNvSpPr/>
          <p:nvPr/>
        </p:nvSpPr>
        <p:spPr>
          <a:xfrm>
            <a:off x="4462272" y="3959352"/>
            <a:ext cx="914400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2E5FA3"/>
                </a:solidFill>
              </a:rPr>
              <a:t>IN3+10% · GS1+15%</a:t>
            </a:r>
            <a:endParaRPr lang="en-US" sz="600" dirty="0"/>
          </a:p>
        </p:txBody>
      </p:sp>
      <p:sp>
        <p:nvSpPr>
          <p:cNvPr id="231" name="Text 229"/>
          <p:cNvSpPr/>
          <p:nvPr/>
        </p:nvSpPr>
        <p:spPr>
          <a:xfrm>
            <a:off x="5394960" y="3959352"/>
            <a:ext cx="502920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50" i="1" dirty="0">
                <a:solidFill>
                  <a:srgbClr val="6B7280"/>
                </a:solidFill>
              </a:rPr>
              <a:t>Brevets + carbone</a:t>
            </a:r>
            <a:endParaRPr lang="en-US" sz="550" dirty="0"/>
          </a:p>
        </p:txBody>
      </p:sp>
      <p:sp>
        <p:nvSpPr>
          <p:cNvPr id="232" name="Shape 230"/>
          <p:cNvSpPr/>
          <p:nvPr/>
        </p:nvSpPr>
        <p:spPr>
          <a:xfrm>
            <a:off x="3154680" y="4206240"/>
            <a:ext cx="2788920" cy="210312"/>
          </a:xfrm>
          <a:prstGeom prst="roundRect">
            <a:avLst>
              <a:gd name="adj" fmla="val 17391"/>
            </a:avLst>
          </a:prstGeom>
          <a:solidFill>
            <a:srgbClr val="EEF2FF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3" name="Text 231"/>
          <p:cNvSpPr/>
          <p:nvPr/>
        </p:nvSpPr>
        <p:spPr>
          <a:xfrm>
            <a:off x="3200400" y="4206240"/>
            <a:ext cx="1234440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0A1628"/>
                </a:solidFill>
              </a:rPr>
              <a:t>Commerce / Transport / Logistique</a:t>
            </a:r>
            <a:endParaRPr lang="en-US" sz="650" dirty="0"/>
          </a:p>
        </p:txBody>
      </p:sp>
      <p:sp>
        <p:nvSpPr>
          <p:cNvPr id="234" name="Text 232"/>
          <p:cNvSpPr/>
          <p:nvPr/>
        </p:nvSpPr>
        <p:spPr>
          <a:xfrm>
            <a:off x="4462272" y="4206240"/>
            <a:ext cx="914400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2E5FA3"/>
                </a:solidFill>
              </a:rPr>
              <a:t>MS3+15% · CO1+10%</a:t>
            </a:r>
            <a:endParaRPr lang="en-US" sz="600" dirty="0"/>
          </a:p>
        </p:txBody>
      </p:sp>
      <p:sp>
        <p:nvSpPr>
          <p:cNvPr id="235" name="Text 233"/>
          <p:cNvSpPr/>
          <p:nvPr/>
        </p:nvSpPr>
        <p:spPr>
          <a:xfrm>
            <a:off x="5394960" y="4206240"/>
            <a:ext cx="502920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50" i="1" dirty="0">
                <a:solidFill>
                  <a:srgbClr val="6B7280"/>
                </a:solidFill>
              </a:rPr>
              <a:t>Réglm. BCT</a:t>
            </a:r>
            <a:endParaRPr lang="en-US" sz="550" dirty="0"/>
          </a:p>
        </p:txBody>
      </p:sp>
      <p:sp>
        <p:nvSpPr>
          <p:cNvPr id="236" name="Shape 234"/>
          <p:cNvSpPr/>
          <p:nvPr/>
        </p:nvSpPr>
        <p:spPr>
          <a:xfrm>
            <a:off x="3154680" y="4453128"/>
            <a:ext cx="2788920" cy="210312"/>
          </a:xfrm>
          <a:prstGeom prst="roundRect">
            <a:avLst>
              <a:gd name="adj" fmla="val 17391"/>
            </a:avLst>
          </a:prstGeom>
          <a:solidFill>
            <a:srgbClr val="EEF2FF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7" name="Text 235"/>
          <p:cNvSpPr/>
          <p:nvPr/>
        </p:nvSpPr>
        <p:spPr>
          <a:xfrm>
            <a:off x="3200400" y="4453128"/>
            <a:ext cx="1234440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0A1628"/>
                </a:solidFill>
              </a:rPr>
              <a:t>Services / Tourisme</a:t>
            </a:r>
            <a:endParaRPr lang="en-US" sz="650" dirty="0"/>
          </a:p>
        </p:txBody>
      </p:sp>
      <p:sp>
        <p:nvSpPr>
          <p:cNvPr id="238" name="Text 236"/>
          <p:cNvSpPr/>
          <p:nvPr/>
        </p:nvSpPr>
        <p:spPr>
          <a:xfrm>
            <a:off x="4462272" y="4453128"/>
            <a:ext cx="914400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2E5FA3"/>
                </a:solidFill>
              </a:rPr>
              <a:t>CO1+10% · IN2+10%</a:t>
            </a:r>
            <a:endParaRPr lang="en-US" sz="600" dirty="0"/>
          </a:p>
        </p:txBody>
      </p:sp>
      <p:sp>
        <p:nvSpPr>
          <p:cNvPr id="239" name="Text 237"/>
          <p:cNvSpPr/>
          <p:nvPr/>
        </p:nvSpPr>
        <p:spPr>
          <a:xfrm>
            <a:off x="5394960" y="4453128"/>
            <a:ext cx="502920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50" i="1" dirty="0">
                <a:solidFill>
                  <a:srgbClr val="6B7280"/>
                </a:solidFill>
              </a:rPr>
              <a:t>Standards qualité</a:t>
            </a:r>
            <a:endParaRPr lang="en-US" sz="550" dirty="0"/>
          </a:p>
        </p:txBody>
      </p:sp>
      <p:sp>
        <p:nvSpPr>
          <p:cNvPr id="240" name="Shape 238"/>
          <p:cNvSpPr/>
          <p:nvPr/>
        </p:nvSpPr>
        <p:spPr>
          <a:xfrm>
            <a:off x="3154680" y="4700016"/>
            <a:ext cx="2788920" cy="210312"/>
          </a:xfrm>
          <a:prstGeom prst="roundRect">
            <a:avLst>
              <a:gd name="adj" fmla="val 17391"/>
            </a:avLst>
          </a:prstGeom>
          <a:solidFill>
            <a:srgbClr val="EEF2FF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1" name="Text 239"/>
          <p:cNvSpPr/>
          <p:nvPr/>
        </p:nvSpPr>
        <p:spPr>
          <a:xfrm>
            <a:off x="3200400" y="4700016"/>
            <a:ext cx="1234440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0A1628"/>
                </a:solidFill>
              </a:rPr>
              <a:t>Technologie &amp; Services Entreprise</a:t>
            </a:r>
            <a:endParaRPr lang="en-US" sz="650" dirty="0"/>
          </a:p>
        </p:txBody>
      </p:sp>
      <p:sp>
        <p:nvSpPr>
          <p:cNvPr id="242" name="Text 240"/>
          <p:cNvSpPr/>
          <p:nvPr/>
        </p:nvSpPr>
        <p:spPr>
          <a:xfrm>
            <a:off x="4462272" y="4700016"/>
            <a:ext cx="914400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2E5FA3"/>
                </a:solidFill>
              </a:rPr>
              <a:t>MS3+15% · IN2+10%</a:t>
            </a:r>
            <a:endParaRPr lang="en-US" sz="600" dirty="0"/>
          </a:p>
        </p:txBody>
      </p:sp>
      <p:sp>
        <p:nvSpPr>
          <p:cNvPr id="243" name="Text 241"/>
          <p:cNvSpPr/>
          <p:nvPr/>
        </p:nvSpPr>
        <p:spPr>
          <a:xfrm>
            <a:off x="5394960" y="4700016"/>
            <a:ext cx="502920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50" i="1" dirty="0">
                <a:solidFill>
                  <a:srgbClr val="6B7280"/>
                </a:solidFill>
              </a:rPr>
              <a:t>IP + scalabilité</a:t>
            </a:r>
            <a:endParaRPr lang="en-US" sz="550" dirty="0"/>
          </a:p>
        </p:txBody>
      </p:sp>
      <p:sp>
        <p:nvSpPr>
          <p:cNvPr id="244" name="Shape 242"/>
          <p:cNvSpPr/>
          <p:nvPr/>
        </p:nvSpPr>
        <p:spPr>
          <a:xfrm>
            <a:off x="6172200" y="3200400"/>
            <a:ext cx="2880360" cy="184708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12700">
            <a:solidFill>
              <a:srgbClr val="C9A84C"/>
            </a:solidFill>
            <a:prstDash val="solid"/>
          </a:ln>
          <a:effectLst>
            <a:outerShdw blurRad="1270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5" name="Text 243"/>
          <p:cNvSpPr/>
          <p:nvPr/>
        </p:nvSpPr>
        <p:spPr>
          <a:xfrm>
            <a:off x="6263640" y="3246120"/>
            <a:ext cx="269748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Palatino Linotype" panose="02040502050505030304" pitchFamily="34" charset="0"/>
                <a:ea typeface="Palatino Linotype" panose="02040502050505030304" pitchFamily="34" charset="-122"/>
                <a:cs typeface="Palatino Linotype" panose="02040502050505030304" pitchFamily="34" charset="-120"/>
              </a:rPr>
              <a:t>Ancrages Théoriques &amp; Légaux</a:t>
            </a:r>
            <a:endParaRPr lang="en-US" sz="1000" dirty="0"/>
          </a:p>
        </p:txBody>
      </p:sp>
      <p:sp>
        <p:nvSpPr>
          <p:cNvPr id="246" name="Text 244"/>
          <p:cNvSpPr/>
          <p:nvPr/>
        </p:nvSpPr>
        <p:spPr>
          <a:xfrm>
            <a:off x="6263640" y="3493008"/>
            <a:ext cx="26974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</a:rPr>
              <a:t>Chaque poids justifié par une source documentée</a:t>
            </a:r>
            <a:endParaRPr lang="en-US" sz="700" dirty="0"/>
          </a:p>
        </p:txBody>
      </p:sp>
      <p:sp>
        <p:nvSpPr>
          <p:cNvPr id="247" name="Shape 245"/>
          <p:cNvSpPr/>
          <p:nvPr/>
        </p:nvSpPr>
        <p:spPr>
          <a:xfrm>
            <a:off x="6263640" y="3758184"/>
            <a:ext cx="118872" cy="11887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8" name="Text 246"/>
          <p:cNvSpPr/>
          <p:nvPr/>
        </p:nvSpPr>
        <p:spPr>
          <a:xfrm>
            <a:off x="6428232" y="3712464"/>
            <a:ext cx="2532888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B3A6B"/>
                </a:solidFill>
              </a:rPr>
              <a:t>Stiglitz &amp; Weiss (1981)</a:t>
            </a:r>
            <a:endParaRPr lang="en-US" sz="750" dirty="0"/>
          </a:p>
        </p:txBody>
      </p:sp>
      <p:sp>
        <p:nvSpPr>
          <p:cNvPr id="249" name="Text 247"/>
          <p:cNvSpPr/>
          <p:nvPr/>
        </p:nvSpPr>
        <p:spPr>
          <a:xfrm>
            <a:off x="6428232" y="3831336"/>
            <a:ext cx="2532888" cy="1188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</a:rPr>
              <a:t>Pénalités asymétrie d'information</a:t>
            </a:r>
            <a:endParaRPr lang="en-US" sz="650" dirty="0"/>
          </a:p>
        </p:txBody>
      </p:sp>
      <p:sp>
        <p:nvSpPr>
          <p:cNvPr id="250" name="Shape 248"/>
          <p:cNvSpPr/>
          <p:nvPr/>
        </p:nvSpPr>
        <p:spPr>
          <a:xfrm>
            <a:off x="6263640" y="4005072"/>
            <a:ext cx="118872" cy="11887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1" name="Text 249"/>
          <p:cNvSpPr/>
          <p:nvPr/>
        </p:nvSpPr>
        <p:spPr>
          <a:xfrm>
            <a:off x="6428232" y="3959352"/>
            <a:ext cx="2532888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B3A6B"/>
                </a:solidFill>
              </a:rPr>
              <a:t>WB Enterprise Survey 2024</a:t>
            </a:r>
            <a:endParaRPr lang="en-US" sz="750" dirty="0"/>
          </a:p>
        </p:txBody>
      </p:sp>
      <p:sp>
        <p:nvSpPr>
          <p:cNvPr id="252" name="Text 250"/>
          <p:cNvSpPr/>
          <p:nvPr/>
        </p:nvSpPr>
        <p:spPr>
          <a:xfrm>
            <a:off x="6428232" y="4078224"/>
            <a:ext cx="2532888" cy="1188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</a:rPr>
              <a:t>Calibration Market &amp; Scalability</a:t>
            </a:r>
            <a:endParaRPr lang="en-US" sz="650" dirty="0"/>
          </a:p>
        </p:txBody>
      </p:sp>
      <p:sp>
        <p:nvSpPr>
          <p:cNvPr id="253" name="Shape 251"/>
          <p:cNvSpPr/>
          <p:nvPr/>
        </p:nvSpPr>
        <p:spPr>
          <a:xfrm>
            <a:off x="6263640" y="4251960"/>
            <a:ext cx="118872" cy="11887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4" name="Text 252"/>
          <p:cNvSpPr/>
          <p:nvPr/>
        </p:nvSpPr>
        <p:spPr>
          <a:xfrm>
            <a:off x="6428232" y="4206240"/>
            <a:ext cx="2532888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B3A6B"/>
                </a:solidFill>
              </a:rPr>
              <a:t>Startup Act Art. 3 §4 (2018)</a:t>
            </a:r>
            <a:endParaRPr lang="en-US" sz="750" dirty="0"/>
          </a:p>
        </p:txBody>
      </p:sp>
      <p:sp>
        <p:nvSpPr>
          <p:cNvPr id="255" name="Text 253"/>
          <p:cNvSpPr/>
          <p:nvPr/>
        </p:nvSpPr>
        <p:spPr>
          <a:xfrm>
            <a:off x="6428232" y="4325112"/>
            <a:ext cx="2532888" cy="1188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</a:rPr>
              <a:t>Innovation Score — condition légale</a:t>
            </a:r>
            <a:endParaRPr lang="en-US" sz="650" dirty="0"/>
          </a:p>
        </p:txBody>
      </p:sp>
      <p:sp>
        <p:nvSpPr>
          <p:cNvPr id="256" name="Shape 254"/>
          <p:cNvSpPr/>
          <p:nvPr/>
        </p:nvSpPr>
        <p:spPr>
          <a:xfrm>
            <a:off x="6263640" y="4498848"/>
            <a:ext cx="118872" cy="11887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7" name="Text 255"/>
          <p:cNvSpPr/>
          <p:nvPr/>
        </p:nvSpPr>
        <p:spPr>
          <a:xfrm>
            <a:off x="6428232" y="4453128"/>
            <a:ext cx="2532888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B3A6B"/>
                </a:solidFill>
              </a:rPr>
              <a:t>Startup Act Art. 12 (2018)</a:t>
            </a:r>
            <a:endParaRPr lang="en-US" sz="750" dirty="0"/>
          </a:p>
        </p:txBody>
      </p:sp>
      <p:sp>
        <p:nvSpPr>
          <p:cNvPr id="258" name="Text 256"/>
          <p:cNvSpPr/>
          <p:nvPr/>
        </p:nvSpPr>
        <p:spPr>
          <a:xfrm>
            <a:off x="6428232" y="4572000"/>
            <a:ext cx="2532888" cy="1188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</a:rPr>
              <a:t>Barrières IP (IN3) — frais dépôt</a:t>
            </a:r>
            <a:endParaRPr lang="en-US" sz="650" dirty="0"/>
          </a:p>
        </p:txBody>
      </p:sp>
      <p:sp>
        <p:nvSpPr>
          <p:cNvPr id="259" name="Shape 257"/>
          <p:cNvSpPr/>
          <p:nvPr/>
        </p:nvSpPr>
        <p:spPr>
          <a:xfrm>
            <a:off x="6263640" y="4745736"/>
            <a:ext cx="118872" cy="11887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0" name="Text 258"/>
          <p:cNvSpPr/>
          <p:nvPr/>
        </p:nvSpPr>
        <p:spPr>
          <a:xfrm>
            <a:off x="6428232" y="4700016"/>
            <a:ext cx="2532888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B3A6B"/>
                </a:solidFill>
              </a:rPr>
              <a:t>Startup Act Art. 17 (2018)</a:t>
            </a:r>
            <a:endParaRPr lang="en-US" sz="750" dirty="0"/>
          </a:p>
        </p:txBody>
      </p:sp>
      <p:sp>
        <p:nvSpPr>
          <p:cNvPr id="261" name="Text 259"/>
          <p:cNvSpPr/>
          <p:nvPr/>
        </p:nvSpPr>
        <p:spPr>
          <a:xfrm>
            <a:off x="6428232" y="4818888"/>
            <a:ext cx="2532888" cy="1188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</a:rPr>
              <a:t>Potentiel géo (SC4) — devises</a:t>
            </a:r>
            <a:endParaRPr lang="en-US" sz="650" dirty="0"/>
          </a:p>
        </p:txBody>
      </p:sp>
      <p:sp>
        <p:nvSpPr>
          <p:cNvPr id="262" name="Shape 260"/>
          <p:cNvSpPr/>
          <p:nvPr/>
        </p:nvSpPr>
        <p:spPr>
          <a:xfrm>
            <a:off x="6263640" y="4992624"/>
            <a:ext cx="118872" cy="11887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3" name="Text 261"/>
          <p:cNvSpPr/>
          <p:nvPr/>
        </p:nvSpPr>
        <p:spPr>
          <a:xfrm>
            <a:off x="6428232" y="4946904"/>
            <a:ext cx="2532888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B3A6B"/>
                </a:solidFill>
              </a:rPr>
              <a:t>PNUD — 4 piliers Green</a:t>
            </a:r>
            <a:endParaRPr lang="en-US" sz="750" dirty="0"/>
          </a:p>
        </p:txBody>
      </p:sp>
      <p:sp>
        <p:nvSpPr>
          <p:cNvPr id="264" name="Text 262"/>
          <p:cNvSpPr/>
          <p:nvPr/>
        </p:nvSpPr>
        <p:spPr>
          <a:xfrm>
            <a:off x="6428232" y="5065776"/>
            <a:ext cx="2532888" cy="1188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</a:rPr>
              <a:t>GS1 Climat · GS2 Eau · GS3 Sols · GS4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68580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anose="02040502050505030304" pitchFamily="34" charset="0"/>
                <a:ea typeface="Palatino Linotype" panose="02040502050505030304" pitchFamily="34" charset="-122"/>
                <a:cs typeface="Palatino Linotype" panose="02040502050505030304" pitchFamily="34" charset="-120"/>
              </a:rPr>
              <a:t>F3 — RAG-Grounded Roadmap &amp; Knowledge Base Tunisienne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0116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C9A84C"/>
                </a:solidFill>
                <a:latin typeface="Sakkal Majalla" panose="02000000000000000000" pitchFamily="34" charset="0"/>
                <a:ea typeface="Sakkal Majalla" panose="02000000000000000000" pitchFamily="34" charset="-122"/>
                <a:cs typeface="Sakkal Majalla" panose="02000000000000000000" pitchFamily="34" charset="-120"/>
              </a:rPr>
              <a:t>بوصلتي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64592" y="804672"/>
            <a:ext cx="411480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2E5FA3"/>
            </a:solidFill>
            <a:prstDash val="solid"/>
          </a:ln>
          <a:effectLst>
            <a:outerShdw blurRad="1270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164592" y="804672"/>
            <a:ext cx="64008" cy="301752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47472" y="850392"/>
            <a:ext cx="384048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5FA3"/>
                </a:solidFill>
                <a:latin typeface="Palatino Linotype" panose="02040502050505030304" pitchFamily="34" charset="0"/>
                <a:ea typeface="Palatino Linotype" panose="02040502050505030304" pitchFamily="34" charset="-122"/>
                <a:cs typeface="Palatino Linotype" panose="02040502050505030304" pitchFamily="34" charset="-120"/>
              </a:rPr>
              <a:t>Knowledge Base — 40+ Ressources Réelles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3840480" cy="402336"/>
          </a:xfrm>
          <a:prstGeom prst="round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11480" y="1261872"/>
            <a:ext cx="3657600" cy="1737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5FA3"/>
                </a:solidFill>
              </a:rPr>
              <a:t>Financement public :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1435608"/>
            <a:ext cx="3657600" cy="1737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</a:rPr>
              <a:t>BFPME · BTS · FOPRODI · FTI · ANPE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0040" y="1709928"/>
            <a:ext cx="3840480" cy="402336"/>
          </a:xfrm>
          <a:prstGeom prst="round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11480" y="1737360"/>
            <a:ext cx="3657600" cy="1737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5FA3"/>
                </a:solidFill>
              </a:rPr>
              <a:t>Capital &amp; incubateurs :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11480" y="1911096"/>
            <a:ext cx="3657600" cy="1737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</a:rPr>
              <a:t>ANAVA · Smart Capital · Flat6Labs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20040" y="2185416"/>
            <a:ext cx="3840480" cy="402336"/>
          </a:xfrm>
          <a:prstGeom prst="round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11480" y="2212848"/>
            <a:ext cx="3657600" cy="1737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5FA3"/>
                </a:solidFill>
              </a:rPr>
              <a:t>Programmes EU / AFD :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11480" y="2386584"/>
            <a:ext cx="3657600" cy="1737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</a:rPr>
              <a:t>EU4Business · AFD Tunisie · UNDP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0040" y="2660904"/>
            <a:ext cx="3840480" cy="402336"/>
          </a:xfrm>
          <a:prstGeom prst="round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11480" y="2688336"/>
            <a:ext cx="3657600" cy="1737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5FA3"/>
                </a:solidFill>
              </a:rPr>
              <a:t>Procédures admin. :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11480" y="2862072"/>
            <a:ext cx="3657600" cy="1737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</a:rPr>
              <a:t>RNE · APII · Startup Act · Formes jur.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20040" y="3136392"/>
            <a:ext cx="3840480" cy="402336"/>
          </a:xfrm>
          <a:prstGeom prst="round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11480" y="3163824"/>
            <a:ext cx="3657600" cy="1737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5FA3"/>
                </a:solidFill>
              </a:rPr>
              <a:t>Acteurs écosystème :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11480" y="3337560"/>
            <a:ext cx="3657600" cy="1737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</a:rPr>
              <a:t>Mentors · Réseaux · Associations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64592" y="3913632"/>
            <a:ext cx="4114800" cy="411480"/>
          </a:xfrm>
          <a:prstGeom prst="roundRect">
            <a:avLst>
              <a:gd name="adj" fmla="val 15556"/>
            </a:avLst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256032" y="3913632"/>
            <a:ext cx="3931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🚫  Recommandation non tracée = rejetée. Zéro hallucination.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434840" y="804672"/>
            <a:ext cx="4544568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C9A84C"/>
            </a:solidFill>
            <a:prstDash val="solid"/>
          </a:ln>
          <a:effectLst>
            <a:outerShdw blurRad="1270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4434840" y="804672"/>
            <a:ext cx="64008" cy="30175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4617720" y="850392"/>
            <a:ext cx="4270248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Palatino Linotype" panose="02040502050505030304" pitchFamily="34" charset="0"/>
                <a:ea typeface="Palatino Linotype" panose="02040502050505030304" pitchFamily="34" charset="-122"/>
                <a:cs typeface="Palatino Linotype" panose="02040502050505030304" pitchFamily="34" charset="-120"/>
              </a:rPr>
              <a:t>Roadmap Personnalisée — Exemple Concret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17720" y="1261872"/>
            <a:ext cx="4224528" cy="640080"/>
          </a:xfrm>
          <a:prstGeom prst="roundRect">
            <a:avLst>
              <a:gd name="adj" fmla="val 11429"/>
            </a:avLst>
          </a:prstGeom>
          <a:solidFill>
            <a:srgbClr val="EEF2FF"/>
          </a:solidFill>
          <a:ln w="12700">
            <a:solidFill>
              <a:srgbClr val="C112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4617720" y="1261872"/>
            <a:ext cx="1600200" cy="237744"/>
          </a:xfrm>
          <a:prstGeom prst="roundRect">
            <a:avLst>
              <a:gd name="adj" fmla="val 23077"/>
            </a:avLst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4617720" y="1261872"/>
            <a:ext cx="16002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Immédiat  0–2 sem.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681728" y="1517904"/>
            <a:ext cx="41148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Enregistrement RNE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681728" y="1719072"/>
            <a:ext cx="411480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C1121F"/>
                </a:solidFill>
              </a:rPr>
              <a:t>→ registre-entreprises.tn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617720" y="1993392"/>
            <a:ext cx="4224528" cy="640080"/>
          </a:xfrm>
          <a:prstGeom prst="roundRect">
            <a:avLst>
              <a:gd name="adj" fmla="val 11429"/>
            </a:avLst>
          </a:prstGeom>
          <a:solidFill>
            <a:srgbClr val="EEF2FF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4617720" y="1993392"/>
            <a:ext cx="1600200" cy="237744"/>
          </a:xfrm>
          <a:prstGeom prst="roundRect">
            <a:avLst>
              <a:gd name="adj" fmla="val 23077"/>
            </a:avLst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4617720" y="1993392"/>
            <a:ext cx="16002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Court terme  1–2 mois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681728" y="2249424"/>
            <a:ext cx="41148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3 lettres d'intention clients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681728" y="2450592"/>
            <a:ext cx="411480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E5FA3"/>
                </a:solidFill>
              </a:rPr>
              <a:t>→ Programme APII accompagnement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617720" y="2724912"/>
            <a:ext cx="4224528" cy="640080"/>
          </a:xfrm>
          <a:prstGeom prst="roundRect">
            <a:avLst>
              <a:gd name="adj" fmla="val 11429"/>
            </a:avLst>
          </a:prstGeom>
          <a:solidFill>
            <a:srgbClr val="EEF2FF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>
            <a:off x="4617720" y="2724912"/>
            <a:ext cx="1600200" cy="237744"/>
          </a:xfrm>
          <a:prstGeom prst="roundRect">
            <a:avLst>
              <a:gd name="adj" fmla="val 2307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4617720" y="2724912"/>
            <a:ext cx="16002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Moyen terme  3–6 mois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681728" y="2980944"/>
            <a:ext cx="41148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Déposer dossier BFPME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681728" y="3182112"/>
            <a:ext cx="411480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0B981"/>
                </a:solidFill>
              </a:rPr>
              <a:t>→ bfpme.com.tn — critères vérifiés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434840" y="3913632"/>
            <a:ext cx="4544568" cy="411480"/>
          </a:xfrm>
          <a:prstGeom prst="roundRect">
            <a:avLst>
              <a:gd name="adj" fmla="val 15556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4526280" y="3913632"/>
            <a:ext cx="4361688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9A84C"/>
                </a:solidFill>
              </a:rPr>
              <a:t>Pipeline RAG : retrieval vectoriel → reranking → LLM grounded → output traçable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64592" y="4407408"/>
            <a:ext cx="8814816" cy="502920"/>
          </a:xfrm>
          <a:prstGeom prst="round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256032" y="4407408"/>
            <a:ext cx="8631936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Dashboard  ·  Vue 'Mon Parcours' persistante  ·  Stade actuel  ·  5 Scores + FRI  ·  Blockers  ·  Roadmap  ·  FR / AR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6400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Palatino Linotype" panose="02040502050505030304" pitchFamily="34" charset="0"/>
                <a:ea typeface="Palatino Linotype" panose="02040502050505030304" pitchFamily="34" charset="-122"/>
                <a:cs typeface="Palatino Linotype" panose="02040502050505030304" pitchFamily="34" charset="-120"/>
              </a:rPr>
              <a:t>Architecture Technique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0116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C9A84C"/>
                </a:solidFill>
                <a:latin typeface="Sakkal Majalla" panose="02000000000000000000" pitchFamily="34" charset="0"/>
                <a:ea typeface="Sakkal Majalla" panose="02000000000000000000" pitchFamily="34" charset="-122"/>
                <a:cs typeface="Sakkal Majalla" panose="02000000000000000000" pitchFamily="34" charset="-120"/>
              </a:rPr>
              <a:t>بوصلتي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64592" y="804672"/>
            <a:ext cx="2057400" cy="2377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2E5FA3"/>
            </a:solidFill>
            <a:prstDash val="solid"/>
          </a:ln>
          <a:effectLst>
            <a:outerShdw blurRad="1270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164592" y="804672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164592" y="804672"/>
            <a:ext cx="2057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F1 — Diagnostic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4592" y="804672"/>
            <a:ext cx="54864" cy="2377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01752" y="1316736"/>
            <a:ext cx="187452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LLM (branchement adaptatif)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Taxonomie 6 stades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Gap detection &amp; blockers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Persistance profil projet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386584" y="804672"/>
            <a:ext cx="2057400" cy="2377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0A1628"/>
            </a:solidFill>
            <a:prstDash val="solid"/>
          </a:ln>
          <a:effectLst>
            <a:outerShdw blurRad="1270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2386584" y="804672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2386584" y="804672"/>
            <a:ext cx="2057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F2 — Scoring AHP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386584" y="804672"/>
            <a:ext cx="54864" cy="2377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2523744" y="1316736"/>
            <a:ext cx="187452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Python calcul matriciel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5 scores + FRI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20+ règles anomalies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Explications langage naturel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08576" y="804672"/>
            <a:ext cx="2057400" cy="2377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1B3A6B"/>
            </a:solidFill>
            <a:prstDash val="solid"/>
          </a:ln>
          <a:effectLst>
            <a:outerShdw blurRad="1270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4608576" y="804672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608576" y="804672"/>
            <a:ext cx="2057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F3 — RAG Pipeline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08576" y="804672"/>
            <a:ext cx="54864" cy="2377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745736" y="1316736"/>
            <a:ext cx="187452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Retrieval vectoriel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LLM grounded KB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Roadmap ordonnée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Anti-hallucination guard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830568" y="804672"/>
            <a:ext cx="2057400" cy="2377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blurRad="1270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6830568" y="804672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6830568" y="804672"/>
            <a:ext cx="2057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KB Ingestion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30568" y="804672"/>
            <a:ext cx="54864" cy="2377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6967728" y="1316736"/>
            <a:ext cx="187452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Python · requests · BS4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40+ ressources JSON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BFPME · BTS · APII…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Structurée &amp; indexée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64592" y="3310128"/>
            <a:ext cx="42976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2E5FA3"/>
            </a:solidFill>
            <a:prstDash val="solid"/>
          </a:ln>
          <a:effectLst>
            <a:outerShdw blurRad="1270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164592" y="3310128"/>
            <a:ext cx="4297680" cy="384048"/>
          </a:xfrm>
          <a:prstGeom prst="roundRect">
            <a:avLst>
              <a:gd name="adj" fmla="val 23810"/>
            </a:avLst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164592" y="3310128"/>
            <a:ext cx="42976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Frontend — Dashboard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56032" y="3749040"/>
            <a:ext cx="411480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React · TailwindCSS  ·  Bilingue FR/AR  ·  Vue Mon Parcours  ·  Chat assistant secondaire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81728" y="3310128"/>
            <a:ext cx="42976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9A84C"/>
            </a:solidFill>
            <a:prstDash val="solid"/>
          </a:ln>
          <a:effectLst>
            <a:outerShdw blurRad="1270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4681728" y="3310128"/>
            <a:ext cx="4297680" cy="384048"/>
          </a:xfrm>
          <a:prstGeom prst="roundRect">
            <a:avLst>
              <a:gd name="adj" fmla="val 23810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4681728" y="3310128"/>
            <a:ext cx="42976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Évaluation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773168" y="3749040"/>
            <a:ext cx="411480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RAGAS : Faithfulness · Relevancy · Precision (F3)  ·  Accuracy + F1-score + Matrice confusion (F1)  ·  10 profils synthétiques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64592" y="4434840"/>
            <a:ext cx="8814816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</a:rPr>
              <a:t>GitHub · Docker (setup 1 commande) · README structuré · Branches par feature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6400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Palatino Linotype" panose="02040502050505030304" pitchFamily="34" charset="0"/>
                <a:ea typeface="Palatino Linotype" panose="02040502050505030304" pitchFamily="34" charset="-122"/>
                <a:cs typeface="Palatino Linotype" panose="02040502050505030304" pitchFamily="34" charset="-120"/>
              </a:rPr>
              <a:t>Impact Réel &amp; Utilisateurs Cibles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0116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C9A84C"/>
                </a:solidFill>
                <a:latin typeface="Sakkal Majalla" panose="02000000000000000000" pitchFamily="34" charset="0"/>
                <a:ea typeface="Sakkal Majalla" panose="02000000000000000000" pitchFamily="34" charset="-122"/>
                <a:cs typeface="Sakkal Majalla" panose="02000000000000000000" pitchFamily="34" charset="-120"/>
              </a:rPr>
              <a:t>بوصلتي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64592" y="804672"/>
            <a:ext cx="278892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9A84C"/>
            </a:solidFill>
            <a:prstDash val="solid"/>
          </a:ln>
          <a:effectLst>
            <a:outerShdw blurRad="1270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164592" y="804672"/>
            <a:ext cx="27889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164592" y="822960"/>
            <a:ext cx="27889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👨‍💼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64592" y="1417320"/>
            <a:ext cx="2788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Palatino Linotype" panose="02040502050505030304" pitchFamily="34" charset="0"/>
                <a:ea typeface="Palatino Linotype" panose="02040502050505030304" pitchFamily="34" charset="-122"/>
                <a:cs typeface="Palatino Linotype" panose="02040502050505030304" pitchFamily="34" charset="-120"/>
              </a:rPr>
              <a:t>L'Entrepreneur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1783080"/>
            <a:ext cx="2578608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Comprend sa vraie position. Sait exactement ce qui le sépare du financement. Reçoit un plan d'action concret et traçable.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36392" y="804672"/>
            <a:ext cx="278892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9A84C"/>
            </a:solidFill>
            <a:prstDash val="solid"/>
          </a:ln>
          <a:effectLst>
            <a:outerShdw blurRad="1270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3136392" y="804672"/>
            <a:ext cx="27889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136392" y="822960"/>
            <a:ext cx="27889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🏦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136392" y="1417320"/>
            <a:ext cx="2788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Palatino Linotype" panose="02040502050505030304" pitchFamily="34" charset="0"/>
                <a:ea typeface="Palatino Linotype" panose="02040502050505030304" pitchFamily="34" charset="-122"/>
                <a:cs typeface="Palatino Linotype" panose="02040502050505030304" pitchFamily="34" charset="-120"/>
              </a:rPr>
              <a:t>Les Institutions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46120" y="1783080"/>
            <a:ext cx="2578608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BFPME, BTS, APII reçoivent des dossiers mieux préparés. Moins de temps perdu. Meilleure allocation des ressources.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08192" y="804672"/>
            <a:ext cx="278892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9A84C"/>
            </a:solidFill>
            <a:prstDash val="solid"/>
          </a:ln>
          <a:effectLst>
            <a:outerShdw blurRad="1270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6108192" y="804672"/>
            <a:ext cx="27889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108192" y="822960"/>
            <a:ext cx="27889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🌍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108192" y="1417320"/>
            <a:ext cx="2788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Palatino Linotype" panose="02040502050505030304" pitchFamily="34" charset="0"/>
                <a:ea typeface="Palatino Linotype" panose="02040502050505030304" pitchFamily="34" charset="-122"/>
                <a:cs typeface="Palatino Linotype" panose="02040502050505030304" pitchFamily="34" charset="-120"/>
              </a:rPr>
              <a:t>PNUD / GEWEET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17920" y="1783080"/>
            <a:ext cx="2578608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Outil déployable dans les programmes d'accompagnement. Données agrégées sur l'écosystème. Impact mesurable.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64592" y="2999232"/>
            <a:ext cx="8814816" cy="320040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256032" y="2999232"/>
            <a:ext cx="8631936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  <a:latin typeface="Palatino Linotype" panose="02040502050505030304" pitchFamily="34" charset="0"/>
                <a:ea typeface="Palatino Linotype" panose="02040502050505030304" pitchFamily="34" charset="-122"/>
                <a:cs typeface="Palatino Linotype" panose="02040502050505030304" pitchFamily="34" charset="-120"/>
              </a:rPr>
              <a:t>Pourquoi maintenant ?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56032" y="3383280"/>
            <a:ext cx="8631936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824 593 entreprises en Tunisie fin 2023 — 97,8% sont des PME  (IACE 2025)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Banque Mondiale : 120M$ injectés pour l'accès au financement PME — le problème est reconnu globalement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Encours crédit industries privées : −0,3% en 2024 — la situation empire  (BCT 2024)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40,5% de chômage chez les jeunes — l'entrepreneuriat est la seule sortie viable  (Trésor France 2024)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64592" y="4599432"/>
            <a:ext cx="881481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2E5FA3"/>
                </a:solidFill>
                <a:latin typeface="Palatino Linotype" panose="02040502050505030304" pitchFamily="34" charset="0"/>
                <a:ea typeface="Palatino Linotype" panose="02040502050505030304" pitchFamily="34" charset="-122"/>
                <a:cs typeface="Palatino Linotype" panose="02040502050505030304" pitchFamily="34" charset="-120"/>
              </a:rPr>
              <a:t>بوصلتي ne répond pas aux questions. Il dit la vérité.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6400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Palatino Linotype" panose="02040502050505030304" pitchFamily="34" charset="0"/>
                <a:ea typeface="Palatino Linotype" panose="02040502050505030304" pitchFamily="34" charset="-122"/>
                <a:cs typeface="Palatino Linotype" panose="02040502050505030304" pitchFamily="34" charset="-120"/>
              </a:rPr>
              <a:t>Équipe &amp; Prochaines Étapes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0116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C9A84C"/>
                </a:solidFill>
                <a:latin typeface="Sakkal Majalla" panose="02000000000000000000" pitchFamily="34" charset="0"/>
                <a:ea typeface="Sakkal Majalla" panose="02000000000000000000" pitchFamily="34" charset="-122"/>
                <a:cs typeface="Sakkal Majalla" panose="02000000000000000000" pitchFamily="34" charset="-120"/>
              </a:rPr>
              <a:t>بوصلتي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64592" y="822960"/>
            <a:ext cx="8814816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2E5FA3"/>
            </a:solidFill>
            <a:prstDash val="solid"/>
          </a:ln>
          <a:effectLst>
            <a:outerShdw blurRad="1270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164592" y="822960"/>
            <a:ext cx="3520440" cy="402336"/>
          </a:xfrm>
          <a:prstGeom prst="roundRect">
            <a:avLst>
              <a:gd name="adj" fmla="val 15909"/>
            </a:avLst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56032" y="822960"/>
            <a:ext cx="333756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 F1 Diagnostic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794760" y="822960"/>
            <a:ext cx="50292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Taxonomie · Branchement · Gap detection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64592" y="1298448"/>
            <a:ext cx="8814816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C9A84C"/>
            </a:solidFill>
            <a:prstDash val="solid"/>
          </a:ln>
          <a:effectLst>
            <a:outerShdw blurRad="1270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164592" y="1298448"/>
            <a:ext cx="3520440" cy="402336"/>
          </a:xfrm>
          <a:prstGeom prst="roundRect">
            <a:avLst>
              <a:gd name="adj" fmla="val 15909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256032" y="1298448"/>
            <a:ext cx="333756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F2 Scoring Engine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794760" y="1298448"/>
            <a:ext cx="50292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5 scores · AHP · Anomalies · FRI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64592" y="1773936"/>
            <a:ext cx="8814816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2E5FA3"/>
            </a:solidFill>
            <a:prstDash val="solid"/>
          </a:ln>
          <a:effectLst>
            <a:outerShdw blurRad="1270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164592" y="1773936"/>
            <a:ext cx="3520440" cy="402336"/>
          </a:xfrm>
          <a:prstGeom prst="roundRect">
            <a:avLst>
              <a:gd name="adj" fmla="val 15909"/>
            </a:avLst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256032" y="1773936"/>
            <a:ext cx="333756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F3 KB + RAG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794760" y="1773936"/>
            <a:ext cx="50292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Scraping · Indexation · Retrieval · Anti-hallucination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64592" y="2249424"/>
            <a:ext cx="8814816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C9A84C"/>
            </a:solidFill>
            <a:prstDash val="solid"/>
          </a:ln>
          <a:effectLst>
            <a:outerShdw blurRad="1270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164592" y="2249424"/>
            <a:ext cx="3520440" cy="402336"/>
          </a:xfrm>
          <a:prstGeom prst="roundRect">
            <a:avLst>
              <a:gd name="adj" fmla="val 15909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256032" y="2249424"/>
            <a:ext cx="333756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Frontend Dashboard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794760" y="2249424"/>
            <a:ext cx="50292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React · UI/UX · Bilingue FR/AR · Mon Parcours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64592" y="2724912"/>
            <a:ext cx="8814816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2E5FA3"/>
            </a:solidFill>
            <a:prstDash val="solid"/>
          </a:ln>
          <a:effectLst>
            <a:outerShdw blurRad="1270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164592" y="2724912"/>
            <a:ext cx="3520440" cy="402336"/>
          </a:xfrm>
          <a:prstGeom prst="roundRect">
            <a:avLst>
              <a:gd name="adj" fmla="val 15909"/>
            </a:avLst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256032" y="2724912"/>
            <a:ext cx="333756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Intégration + Évaluation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794760" y="2724912"/>
            <a:ext cx="50292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API · RAGAS · README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64592" y="3337560"/>
            <a:ext cx="8814816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64592" y="3703320"/>
            <a:ext cx="2788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256032" y="4114800"/>
            <a:ext cx="2606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227832" y="4114800"/>
            <a:ext cx="2606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108192" y="3703320"/>
            <a:ext cx="2788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J7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199632" y="4114800"/>
            <a:ext cx="2606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1730</Words>
  <Application>Microsoft Office PowerPoint</Application>
  <PresentationFormat>Affichage à l'écran (16:9)</PresentationFormat>
  <Paragraphs>375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6" baseType="lpstr">
      <vt:lpstr>Arial</vt:lpstr>
      <vt:lpstr>Calibri</vt:lpstr>
      <vt:lpstr>Palatino Linotype</vt:lpstr>
      <vt:lpstr>Sakkal Majalla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5</cp:revision>
  <dcterms:created xsi:type="dcterms:W3CDTF">2026-06-17T15:37:00Z</dcterms:created>
  <dcterms:modified xsi:type="dcterms:W3CDTF">2026-06-17T16:33:27Z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1036-12.1.0.26880</vt:lpwstr>
  </property>
  <property fmtid="{D5CDD505-2E9C-101B-9397-08002B2CF9AE}" pid="3" name="ICV">
    <vt:lpwstr>705FAC300F744F29A10E942D80EDC2E3_12</vt:lpwstr>
  </property>
</Properties>
</file>